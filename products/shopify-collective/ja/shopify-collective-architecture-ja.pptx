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38f4d0b96394cbe" /><Relationship Type="http://schemas.openxmlformats.org/officeDocument/2006/relationships/extended-properties" Target="/docProps/app.xml" Id="Re129e74687684ab2" /><Relationship Type="http://schemas.openxmlformats.org/officeDocument/2006/relationships/officeDocument" Target="/ppt/presentation.xml" Id="R23a7ae1747d64ea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a11dca9401d446b"/>
  </p:sldMasterIdLst>
  <p:notesMasterIdLst>
    <p:notesMasterId xmlns:r="http://schemas.openxmlformats.org/officeDocument/2006/relationships" r:id="Rdb5c5b333fa74ade"/>
  </p:notesMasterIdLst>
  <p:sldIdLst>
    <p:sldId xmlns:r="http://schemas.openxmlformats.org/officeDocument/2006/relationships" id="256" r:id="R742ffcec8d634141"/>
    <p:sldId xmlns:r="http://schemas.openxmlformats.org/officeDocument/2006/relationships" id="257" r:id="R6aa0c02744bf4c0b"/>
    <p:sldId xmlns:r="http://schemas.openxmlformats.org/officeDocument/2006/relationships" id="258" r:id="Rd8ba5242070b4ac8"/>
    <p:sldId xmlns:r="http://schemas.openxmlformats.org/officeDocument/2006/relationships" id="259" r:id="Rcb6f4fa5780f4e00"/>
    <p:sldId xmlns:r="http://schemas.openxmlformats.org/officeDocument/2006/relationships" id="260" r:id="Rf15d51d84d7b49af"/>
    <p:sldId xmlns:r="http://schemas.openxmlformats.org/officeDocument/2006/relationships" id="261" r:id="R6487ab354e4e42d2"/>
    <p:sldId xmlns:r="http://schemas.openxmlformats.org/officeDocument/2006/relationships" id="262" r:id="R63c677cd32dd4eb7"/>
    <p:sldId xmlns:r="http://schemas.openxmlformats.org/officeDocument/2006/relationships" id="263" r:id="R78f47c28116a4b4e"/>
    <p:sldId xmlns:r="http://schemas.openxmlformats.org/officeDocument/2006/relationships" id="264" r:id="R4682896d21e64504"/>
    <p:sldId xmlns:r="http://schemas.openxmlformats.org/officeDocument/2006/relationships" id="265" r:id="R8dc2093c40594b59"/>
    <p:sldId xmlns:r="http://schemas.openxmlformats.org/officeDocument/2006/relationships" id="266" r:id="Rce6f0b4d13414ddd"/>
    <p:sldId xmlns:r="http://schemas.openxmlformats.org/officeDocument/2006/relationships" id="267" r:id="Rd591167dc94e477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3bfd0e91bd2477b" /><Relationship Type="http://schemas.openxmlformats.org/officeDocument/2006/relationships/slideMaster" Target="/ppt/slideMasters/slideMaster1.xml" Id="R9a11dca9401d446b" /><Relationship Type="http://schemas.openxmlformats.org/officeDocument/2006/relationships/notesMaster" Target="/ppt/notesMasters/notesMaster1.xml" Id="Rdb5c5b333fa74ade" /><Relationship Type="http://schemas.openxmlformats.org/officeDocument/2006/relationships/presProps" Target="/ppt/presProps.xml" Id="Ra7d64b21394e4f13" /><Relationship Type="http://schemas.openxmlformats.org/officeDocument/2006/relationships/tableStyles" Target="/ppt/tableStyles.xml" Id="R9bdd83b7b41a46e3" /><Relationship Type="http://schemas.openxmlformats.org/officeDocument/2006/relationships/slide" Target="/ppt/slides/slide1.xml" Id="R742ffcec8d634141" /><Relationship Type="http://schemas.openxmlformats.org/officeDocument/2006/relationships/slide" Target="/ppt/slides/slide2.xml" Id="R6aa0c02744bf4c0b" /><Relationship Type="http://schemas.openxmlformats.org/officeDocument/2006/relationships/slide" Target="/ppt/slides/slide3.xml" Id="Rd8ba5242070b4ac8" /><Relationship Type="http://schemas.openxmlformats.org/officeDocument/2006/relationships/slide" Target="/ppt/slides/slide4.xml" Id="Rcb6f4fa5780f4e00" /><Relationship Type="http://schemas.openxmlformats.org/officeDocument/2006/relationships/slide" Target="/ppt/slides/slide5.xml" Id="Rf15d51d84d7b49af" /><Relationship Type="http://schemas.openxmlformats.org/officeDocument/2006/relationships/slide" Target="/ppt/slides/slide6.xml" Id="R6487ab354e4e42d2" /><Relationship Type="http://schemas.openxmlformats.org/officeDocument/2006/relationships/slide" Target="/ppt/slides/slide7.xml" Id="R63c677cd32dd4eb7" /><Relationship Type="http://schemas.openxmlformats.org/officeDocument/2006/relationships/slide" Target="/ppt/slides/slide8.xml" Id="R78f47c28116a4b4e" /><Relationship Type="http://schemas.openxmlformats.org/officeDocument/2006/relationships/slide" Target="/ppt/slides/slide9.xml" Id="R4682896d21e64504" /><Relationship Type="http://schemas.openxmlformats.org/officeDocument/2006/relationships/slide" Target="/ppt/slides/slide10.xml" Id="R8dc2093c40594b59" /><Relationship Type="http://schemas.openxmlformats.org/officeDocument/2006/relationships/slide" Target="/ppt/slides/slide11.xml" Id="Rce6f0b4d13414ddd" /><Relationship Type="http://schemas.openxmlformats.org/officeDocument/2006/relationships/slide" Target="/ppt/slides/slide12.xml" Id="Rd591167dc94e477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a0a2f5ff92e4ef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2bba741b1f142b6" /><Relationship Type="http://schemas.openxmlformats.org/officeDocument/2006/relationships/notesMaster" Target="/ppt/notesMasters/notesMaster1.xml" Id="Rdc37b7e373844c6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912c71b29434237" /><Relationship Type="http://schemas.openxmlformats.org/officeDocument/2006/relationships/notesMaster" Target="/ppt/notesMasters/notesMaster1.xml" Id="R16ed70b433d64d6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ddefca67b3e4192" /><Relationship Type="http://schemas.openxmlformats.org/officeDocument/2006/relationships/notesMaster" Target="/ppt/notesMasters/notesMaster1.xml" Id="Rbfd8ee448d0a434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a44340c81164dab" /><Relationship Type="http://schemas.openxmlformats.org/officeDocument/2006/relationships/notesMaster" Target="/ppt/notesMasters/notesMaster1.xml" Id="R9f7beb0fa14c4cc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1fc304ed92f4c40" /><Relationship Type="http://schemas.openxmlformats.org/officeDocument/2006/relationships/notesMaster" Target="/ppt/notesMasters/notesMaster1.xml" Id="Rd3698472819e4b8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1e7764ade304aa7" /><Relationship Type="http://schemas.openxmlformats.org/officeDocument/2006/relationships/notesMaster" Target="/ppt/notesMasters/notesMaster1.xml" Id="Rc719fece1bfe4d6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76ee0f651be437c" /><Relationship Type="http://schemas.openxmlformats.org/officeDocument/2006/relationships/notesMaster" Target="/ppt/notesMasters/notesMaster1.xml" Id="R52c951f7c6aa448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7f6892340284d95" /><Relationship Type="http://schemas.openxmlformats.org/officeDocument/2006/relationships/notesMaster" Target="/ppt/notesMasters/notesMaster1.xml" Id="Rffc4b57f2a734e5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95c14d747024beb" /><Relationship Type="http://schemas.openxmlformats.org/officeDocument/2006/relationships/notesMaster" Target="/ppt/notesMasters/notesMaster1.xml" Id="R585c0454a796480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6dd09b6271e4b44" /><Relationship Type="http://schemas.openxmlformats.org/officeDocument/2006/relationships/notesMaster" Target="/ppt/notesMasters/notesMaster1.xml" Id="Rb6ea6fe270bc422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f7f8f4eac5b44bc" /><Relationship Type="http://schemas.openxmlformats.org/officeDocument/2006/relationships/notesMaster" Target="/ppt/notesMasters/notesMaster1.xml" Id="R4bebd16617ba46f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a2b88dedcf64a88" /><Relationship Type="http://schemas.openxmlformats.org/officeDocument/2006/relationships/notesMaster" Target="/ppt/notesMasters/notesMaster1.xml" Id="Ra3fdec5b18e743f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f40a3bb12d4b8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5ac884c841247ef" /><Relationship Type="http://schemas.openxmlformats.org/officeDocument/2006/relationships/slideLayout" Target="/ppt/slideLayouts/slideLayout1.xml" Id="Rce6013e132db439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e6013e132db439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289554f4b24598" /><Relationship Type="http://schemas.openxmlformats.org/officeDocument/2006/relationships/notesSlide" Target="/ppt/notesSlides/notesSlide1.xml" Id="Rb7b3c5ebfffa47b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9b4ab2ae854696" /><Relationship Type="http://schemas.openxmlformats.org/officeDocument/2006/relationships/notesSlide" Target="/ppt/notesSlides/notesSlide2.xml" Id="R0f26ac904e43412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4720ac21214d62" /><Relationship Type="http://schemas.openxmlformats.org/officeDocument/2006/relationships/notesSlide" Target="/ppt/notesSlides/notesSlide3.xml" Id="Re40e12048f47470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0c4414aaa348a7" /><Relationship Type="http://schemas.openxmlformats.org/officeDocument/2006/relationships/notesSlide" Target="/ppt/notesSlides/notesSlide4.xml" Id="R5bcca8e0ea6f4cb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73500d73dc4631" /><Relationship Type="http://schemas.openxmlformats.org/officeDocument/2006/relationships/notesSlide" Target="/ppt/notesSlides/notesSlide5.xml" Id="Rbcaeef7b591e45f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01539f40fe4cb1" /><Relationship Type="http://schemas.openxmlformats.org/officeDocument/2006/relationships/notesSlide" Target="/ppt/notesSlides/notesSlide6.xml" Id="R505a8909afe4442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6ae96fe88b4b5f" /><Relationship Type="http://schemas.openxmlformats.org/officeDocument/2006/relationships/notesSlide" Target="/ppt/notesSlides/notesSlide7.xml" Id="Rcaaf1d5690bb4c3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b6975261324532" /><Relationship Type="http://schemas.openxmlformats.org/officeDocument/2006/relationships/notesSlide" Target="/ppt/notesSlides/notesSlide8.xml" Id="R05497d27a8dd475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1e787f38174745" /><Relationship Type="http://schemas.openxmlformats.org/officeDocument/2006/relationships/notesSlide" Target="/ppt/notesSlides/notesSlide9.xml" Id="R7359a1ca9e4f409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7a1dbcaf4a4939" /><Relationship Type="http://schemas.openxmlformats.org/officeDocument/2006/relationships/notesSlide" Target="/ppt/notesSlides/notesSlide10.xml" Id="R691fc7d5a3c446f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91e9e0fd514636" /><Relationship Type="http://schemas.openxmlformats.org/officeDocument/2006/relationships/notesSlide" Target="/ppt/notesSlides/notesSlide11.xml" Id="R520f3746882f4e6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f0df17606146fc" /><Relationship Type="http://schemas.openxmlformats.org/officeDocument/2006/relationships/notesSlide" Target="/ppt/notesSlides/notesSlide12.xml" Id="R0fdc9d39db7940b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4C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0BAE137-6795-4A55-9753-8A622D189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Shopify Technical Docs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DB5AAA-DEE7-4540-A30C-699D4B0FB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99060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200" b="1">
                <a:solidFill>
                  <a:srgbClr val="2FDF4A"/>
                </a:solidFill>
              </a:defRPr>
            </a:pPr>
            <a:r>
              <a:rPr sz="7200" b="1">
                <a:solidFill>
                  <a:srgbClr val="2FDF4A"/>
                </a:solidFill>
              </a:rPr>
              <a:t>Shopify Collective</a:t>
            </a:r>
          </a:p>
          <a:p xmlns:a="http://schemas.openxmlformats.org/drawingml/2006/main">
            <a:pPr algn="l">
              <a:defRPr sz="7200" b="1">
                <a:solidFill>
                  <a:srgbClr val="2FDF4A"/>
                </a:solidFill>
              </a:defRPr>
            </a:pPr>
            <a:r>
              <a:rPr sz="7200" b="1">
                <a:solidFill>
                  <a:srgbClr val="2FDF4A"/>
                </a:solidFill>
              </a:rPr>
              <a:t>アーキテクチャ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A2045F-EC16-4596-BEC1-CDC8CF3C6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809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商品同期、注文、支払い、返品までの小売業者・サプライヤーフロー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3A72FC-1D21-42DF-9F35-3F5C0BE49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96265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2FDF4A"/>
                </a:solidFill>
              </a:defRPr>
            </a:pPr>
            <a:r>
              <a:rPr sz="1050" b="1">
                <a:solidFill>
                  <a:srgbClr val="2FDF4A"/>
                </a:solidFill>
              </a:rPr>
              <a:t>PPTX visualization</a:t>
            </a:r>
          </a:p>
        </p:txBody>
      </p:sp>
    </p:spTree>
    <p:extLst>
      <p:ext uri="{BB962C8B-B14F-4D97-AF65-F5344CB8AC3E}">
        <p14:creationId xmlns:p14="http://schemas.microsoft.com/office/powerpoint/2010/main" val="97630391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554E9C-5810-4BBB-AE49-B37CD146D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01 | システム境界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6B4A93-611B-41E0-8B61-16F76217A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Collectiveはマーチャント間の処理をつなぐ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F49DE5-403A-4DD6-ADDC-CC14CE5E7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サプライヤーの商品、小売業者の販売、Collectiveの同期・注文ルーティングを分けて見ると理解しやすくなります。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596D98-367C-4CEA-AA8D-0B8DF22E3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7ADEAD-C368-4335-B5A1-EB61E1C17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329565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1820"/>
                </a:solidFill>
              </a:defRPr>
            </a:pPr>
            <a:r>
              <a:rPr sz="1875" b="1">
                <a:solidFill>
                  <a:srgbClr val="101820"/>
                </a:solidFill>
              </a:rPr>
              <a:t>サプライヤー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01761F-345E-4844-85BF-EBF7A531A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24250"/>
            <a:ext cx="28384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商品を所有し、price list、cost price、サプライヤー送料を設定し、顧客へ直接フルフィルメントします。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52D62C-EE4B-4FCA-AB04-20EB95121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686050"/>
            <a:ext cx="329565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A6DFC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04C3F"/>
                </a:solidFill>
              </a:defRPr>
            </a:pPr>
            <a:r>
              <a:rPr sz="1875" b="1">
                <a:solidFill>
                  <a:srgbClr val="004C3F"/>
                </a:solidFill>
              </a:rPr>
              <a:t>Shopify Collective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CF6B14-A269-4E4C-9A6F-EEB4265A8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24250"/>
            <a:ext cx="28384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商品インポート、在庫とcost price同期、注文ルーティング、支払い記録の調整を担います。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F141F6-5091-4A3B-9559-98DB5439E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686050"/>
            <a:ext cx="329565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1820"/>
                </a:solidFill>
              </a:defRPr>
            </a:pPr>
            <a:r>
              <a:rPr sz="1875" b="1">
                <a:solidFill>
                  <a:srgbClr val="101820"/>
                </a:solidFill>
              </a:rPr>
              <a:t>小売業者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A1C6ED-0207-4C94-8C98-3E3CE31F0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24250"/>
            <a:ext cx="28384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商品をインポートして販売し、顧客接点を持ち、購入者向け価格や送料を設定します。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99E92A-1621-41F3-8501-AC191386A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4F52E7-5272-4AEB-A36F-B234B05EC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077A7E-ABEC-4930-AF77-2D2DB1C05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2/12</a:t>
            </a:r>
          </a:p>
        </p:txBody>
      </p:sp>
    </p:spTree>
    <p:extLst>
      <p:ext uri="{BB962C8B-B14F-4D97-AF65-F5344CB8AC3E}">
        <p14:creationId xmlns:p14="http://schemas.microsoft.com/office/powerpoint/2010/main" val="151877743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7BFF626-9AB2-4452-9A3F-5D5A35878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02 | 商品共有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70BF5D-9968-482C-8AE1-B2AA10ACA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商品共有はサプライヤーのprice listから始まる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6A1098-9FC9-4D87-A42B-E8E216E26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商品はサプライヤーのShopifyストアに存在し、ACTIVEで、Collective Supplierチャネルに公開され、price listに含まれる必要があります。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D6341B-EC7F-42E4-A61B-E9B789E60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B97A29-1E16-46FC-862F-DA52852AD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21526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商品作成・同期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C45FC7-681F-4CF8-B98C-D84C3D28E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00450"/>
            <a:ext cx="1885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ERP/PIMを上流にしても、共有商品はShopifyに必要です。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99EC69-9B45-47F4-95DD-846BD20BC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352800"/>
            <a:ext cx="304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E5631E-9673-475B-B6FD-06B229D43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95600"/>
            <a:ext cx="21526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ACTIVEで公開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CF4FAF-8ED8-4AA6-AAF9-69C33E60F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600450"/>
            <a:ext cx="1885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Collective Supplierチャネルへ商品を公開します。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FD5F06-8D36-4286-B2D9-044A93D06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352800"/>
            <a:ext cx="304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5C0B61-FFE4-4344-9BBD-EFED982E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895600"/>
            <a:ext cx="21526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Price list作成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AED2D5-B08F-4A3F-9C53-CB85512A5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600450"/>
            <a:ext cx="1885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商品、margin、cost price条件、送料を設定します。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D0A1B6-EA74-4AD8-BDE7-8450BD70E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352800"/>
            <a:ext cx="304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E9F7A9-8F2A-4D42-AD19-67256D7AD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95600"/>
            <a:ext cx="21526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04C3F"/>
                </a:solidFill>
              </a:defRPr>
            </a:pPr>
            <a:r>
              <a:rPr sz="1425" b="1">
                <a:solidFill>
                  <a:srgbClr val="004C3F"/>
                </a:solidFill>
              </a:rPr>
              <a:t>小売業者がimport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1079B7-A346-479E-9EC3-1976BA5B6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00450"/>
            <a:ext cx="1885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Collectiveタグ付き商品が小売業者ストアに作成されます。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1DF0F7-E39F-4C4A-B3EE-6BD0E4DEF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72050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Price listはapp/adminで管理し、public APIでは作成しません。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9DC44D-C420-40C7-9680-E21F4B86E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972050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Open / closed accessでインポート可能な相手が変わります。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5D93E4-FD10-4CBF-8A64-208CF5810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972050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商品情報は設定により継続同期できます。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50E530-7A21-4A33-9289-2A9C35106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1F4D13-7354-423D-94F0-9864AEC9C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F46B1B-914D-4C2F-8FA3-7511BA1BA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3/12</a:t>
            </a:r>
          </a:p>
        </p:txBody>
      </p:sp>
    </p:spTree>
    <p:extLst>
      <p:ext uri="{BB962C8B-B14F-4D97-AF65-F5344CB8AC3E}">
        <p14:creationId xmlns:p14="http://schemas.microsoft.com/office/powerpoint/2010/main" val="16129159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E29389D-F769-467C-8A29-B9C6862C8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03 | 在庫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E5630A-5EF6-4FB1-B1C0-EEDA0CD25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インポート商品はサプライヤー在庫を参照する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5E0FD1-81C8-4F5A-AB5E-832233211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小売業者の利用可能在庫はサプライヤー起点で反映され、Shopify checkoutでもサプライヤー在庫が確認されます。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210360-E487-410C-8CE9-1DECE68D3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4E5771-435B-40E5-8B6F-9433F8B68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16954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サプライヤー在庫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9ABB70-740C-4CF2-B203-1F78ADB2E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00450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サプライヤーのオンライン販売可能在庫が小売業者在庫に反映されます。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8DA18C-9D08-4A07-B89F-DD4834DCC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352800"/>
            <a:ext cx="171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775798-C284-433A-BF17-314E78A44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895600"/>
            <a:ext cx="16954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共有減算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28783F-805C-48D1-BCBC-A6658DC70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600450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サプライヤーまたは接続小売業者での購入が在庫を減らします。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C0BCC9-665B-45BD-BF59-8EE447317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352800"/>
            <a:ext cx="171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2D58E8-9A11-4282-B2C2-816A1BBE6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895600"/>
            <a:ext cx="16954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伝播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A5D8DA-C799-4548-A326-7321D77C4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600450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変更は接続ストアへ同期されます。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F41F51-7141-4286-9C7F-00E98861E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352800"/>
            <a:ext cx="171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E1C008-F461-49F5-855E-1E07AF524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95600"/>
            <a:ext cx="16954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Checkout確認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BFA709-C51A-4DAB-B243-6F715E3D1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600450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Shopify checkoutがサプライヤー在庫を確認します。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D76351-5886-4283-ACC2-A69563035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352800"/>
            <a:ext cx="171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7A9794-6D2D-4825-AA5B-365C3E0EA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95600"/>
            <a:ext cx="16954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04C3F"/>
                </a:solidFill>
              </a:defRPr>
            </a:pPr>
            <a:r>
              <a:rPr sz="1425" b="1">
                <a:solidFill>
                  <a:srgbClr val="004C3F"/>
                </a:solidFill>
              </a:rPr>
              <a:t>手動例外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9A4A1C-C3FC-4936-A7AC-E5DDAF3C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600450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手動注文作成にはcheckout保護が効きません。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7876AA-6341-4E1B-BF70-667B58B61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72050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伝播中の一時的な在庫差分はありえます。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75C458-9E6E-44D3-BDB2-DD4B1FE03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972050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平均同期は30秒未満、最大5分かかる場合があります。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97BD66-80CB-459D-AF11-8AF3A02B3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972050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Collective在庫設定の変更は同期を壊す可能性があります。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0DB837-9E13-49AA-A552-84744F073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C4F75F-0529-41F5-ACBF-5B1122D3B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38BC90-B4F3-46F3-8715-A3DCAA69F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4/12</a:t>
            </a:r>
          </a:p>
        </p:txBody>
      </p:sp>
    </p:spTree>
    <p:extLst>
      <p:ext uri="{BB962C8B-B14F-4D97-AF65-F5344CB8AC3E}">
        <p14:creationId xmlns:p14="http://schemas.microsoft.com/office/powerpoint/2010/main" val="18888587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B734422-1727-4733-BCD5-0741E2A4F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04 | 価格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659F30-B53B-4227-96EE-3FDD33ABA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Cost priceとretail priceは別の管理対象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2764A8-7E74-4BBC-A396-722229CAE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サプライヤーへ支払うcost priceと、購入者に見せるretail price / discountを分けて考えます。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F04C62-4568-46DC-8249-70EF717C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7F09BC-7D82-4470-B8F5-10EA1B262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8958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A6DFC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04C3F"/>
                </a:solidFill>
              </a:defRPr>
            </a:pPr>
            <a:r>
              <a:rPr sz="2025" b="1">
                <a:solidFill>
                  <a:srgbClr val="004C3F"/>
                </a:solidFill>
              </a:rPr>
              <a:t>サプライヤーcost price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EAD8BB-A673-4DDF-920A-55A8D15C4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33800"/>
            <a:ext cx="42481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01820"/>
                </a:solidFill>
              </a:defRPr>
            </a:pPr>
            <a:r>
              <a:rPr sz="1575" b="0">
                <a:solidFill>
                  <a:srgbClr val="101820"/>
                </a:solidFill>
              </a:rPr>
              <a:t>サプライヤーprice listから常時同期され、小売業者は編集できません。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E78A9E-DE0F-4CE0-9F6B-0FF308E8A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81300"/>
            <a:ext cx="48958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01820"/>
                </a:solidFill>
              </a:defRPr>
            </a:pPr>
            <a:r>
              <a:rPr sz="2025" b="1">
                <a:solidFill>
                  <a:srgbClr val="101820"/>
                </a:solidFill>
              </a:rPr>
              <a:t>小売業者retail price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14C24C-ED71-4B1A-B7B2-7DC3CC91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33800"/>
            <a:ext cx="42481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01820"/>
                </a:solidFill>
              </a:defRPr>
            </a:pPr>
            <a:r>
              <a:rPr sz="1575" b="0">
                <a:solidFill>
                  <a:srgbClr val="101820"/>
                </a:solidFill>
              </a:rPr>
              <a:t>Retail price syncがONでなければ、購入者向け価格は小売業者が管理できます。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EC74E6-EF0E-4FD3-8F54-1644E9060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714750"/>
            <a:ext cx="666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D97706"/>
                </a:solidFill>
              </a:defRPr>
            </a:pPr>
            <a:r>
              <a:rPr sz="4350" b="1">
                <a:solidFill>
                  <a:srgbClr val="D97706"/>
                </a:solidFill>
              </a:rPr>
              <a:t>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5ABC6A-0A43-4074-93B6-E08F944C5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61975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小売業者のディスカウントは小売業者利益を減らしますが、サプライヤーcost priceは変えません。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9DBF7D-107D-42EB-AD70-DA9556BA8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518FC8-1423-457E-862F-C1BBBD7AD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F4E399-9A6B-48AF-84F8-72EF1BB85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5/12</a:t>
            </a:r>
          </a:p>
        </p:txBody>
      </p:sp>
    </p:spTree>
    <p:extLst>
      <p:ext uri="{BB962C8B-B14F-4D97-AF65-F5344CB8AC3E}">
        <p14:creationId xmlns:p14="http://schemas.microsoft.com/office/powerpoint/2010/main" val="133342934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C0513C-A845-430D-9993-C834033DE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05 | 配送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C7CEE9-64B0-40C0-A0B0-9EC872BC2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配送には二つの経済レートがある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8ABAC6-56C3-46AC-8ADA-35FF9FD3A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購入者に請求する送料と、サプライヤーが小売業者へ請求する送料を分けてモデル化します。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7906B5-A867-41EB-9CF5-D05644B77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17F860-2E5B-4DE8-859B-9E9901CE8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8958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A6DFC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04C3F"/>
                </a:solidFill>
              </a:defRPr>
            </a:pPr>
            <a:r>
              <a:rPr sz="2025" b="1">
                <a:solidFill>
                  <a:srgbClr val="004C3F"/>
                </a:solidFill>
              </a:rPr>
              <a:t>サプライヤーが小売業者へ請求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DC3083-D0BD-473E-8636-1E6624497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33800"/>
            <a:ext cx="42481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01820"/>
                </a:solidFill>
              </a:defRPr>
            </a:pPr>
            <a:r>
              <a:rPr sz="1575" b="0">
                <a:solidFill>
                  <a:srgbClr val="101820"/>
                </a:solidFill>
              </a:rPr>
              <a:t>サプライヤー送料が、小売業者がサプライヤーへ支払う送料を決めます。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F95E53-7E37-429B-92EB-A0C9C0484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81300"/>
            <a:ext cx="48958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01820"/>
                </a:solidFill>
              </a:defRPr>
            </a:pPr>
            <a:r>
              <a:rPr sz="2025" b="1">
                <a:solidFill>
                  <a:srgbClr val="101820"/>
                </a:solidFill>
              </a:rPr>
              <a:t>小売業者が購入者へ請求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DDC93C-B74E-40FA-90D6-91B34D2F4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33800"/>
            <a:ext cx="42481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01820"/>
                </a:solidFill>
              </a:defRPr>
            </a:pPr>
            <a:r>
              <a:rPr sz="1575" b="0">
                <a:solidFill>
                  <a:srgbClr val="101820"/>
                </a:solidFill>
              </a:rPr>
              <a:t>標準profileではサプライヤーレートを返し、custom profileでは別の購入者向け送料を設定できます。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2FC27D-1DBB-4D1C-859B-F500E1600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714750"/>
            <a:ext cx="666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D97706"/>
                </a:solidFill>
              </a:defRPr>
            </a:pPr>
            <a:r>
              <a:rPr sz="4350" b="1">
                <a:solidFill>
                  <a:srgbClr val="D97706"/>
                </a:solidFill>
              </a:rPr>
              <a:t>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E5415E-E48D-4D05-A552-9E84BF24C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61975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送料差益または送料補助は小売業者側の経済性として扱います。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23C4E1-B5DB-4773-A3AD-6BD914679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BE6BC9-1A3E-4110-828C-562BBDADB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A7CADD-3E97-4624-A34B-47278A9FE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6/12</a:t>
            </a:r>
          </a:p>
        </p:txBody>
      </p:sp>
    </p:spTree>
    <p:extLst>
      <p:ext uri="{BB962C8B-B14F-4D97-AF65-F5344CB8AC3E}">
        <p14:creationId xmlns:p14="http://schemas.microsoft.com/office/powerpoint/2010/main" val="116581067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5437201-5C8F-4B65-8D61-CAB67BACC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06 | 注文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684A6E-538B-4314-924F-76DA0700A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サプライヤー注文は支払いと不正チェック後に作られる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9BC0C5-07E0-4D54-8675-C5B28A85B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小売業者注文が先に作成され、その後Collectiveがサプライヤー注文とfulfillment orderをリンクします。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BE93E5-15AC-484F-84D0-A821B2C5D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A5D920-4375-46A6-86D8-C72B6396D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DA32DF-C042-4AEA-863F-EE457DD1B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051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購入者が小売業者でcheckout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463A28-CF4F-4591-AA89-3DF6E8B67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小売業者注文にShopify Collectiveタグが付きます。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643649-464F-40FF-AD0A-FC3D969D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242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A52810-5BC4-4D9F-BDF4-D8E34A941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1470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F6854B-2A01-428C-B460-BC485D542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2956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Collectiveが約2分待つ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DCAEED-433F-4E04-8347-51B48B8C0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581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支払いと不正チェックを行い、注文が保留でないことを確認します。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0963D5-86DE-4453-A60B-4A55E9D4A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147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D5045F-A3E5-4703-A0F2-70BADF90F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C33CFB-A225-4ADB-97F7-A0F8FC24D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862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サプライヤー注文を作成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146E66-4B13-49E4-9684-5463FFB4F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7195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Fulfillment requestを送り、小売業者fulfillmentとサプライヤー注文をリンクします。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AE468C-AD5F-476A-B591-30A6DB75F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053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473C72-6183-4EE6-A960-2DB2C7089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9580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004C3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042AEE-419D-423B-8AEC-BAEB19EA5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767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サプライヤーが顧客へ出荷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9928E7-676D-4DF0-B91F-3CB543655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サプライヤーは小売業者ではなくエンド顧客へ直接フルフィルメントします。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7E2E58-BC2E-4280-92A0-7FE6304CF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958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BFA25E-D6BF-41EA-9864-D00C91EBA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8635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F766F8-4B54-4548-943B-2B33C8103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673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状態を小売業者へ同期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96FA17-6648-4FCE-9898-07D6B5151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35305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Fulfillmentとtrackingが小売業者注文へ反映されます。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0C82D14-C173-4139-9836-7DD04C611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F5934A-7769-4F5F-9335-46BC9C034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95628DC-9435-41F1-A39A-87BE2A73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7/12</a:t>
            </a:r>
          </a:p>
        </p:txBody>
      </p:sp>
    </p:spTree>
    <p:extLst>
      <p:ext uri="{BB962C8B-B14F-4D97-AF65-F5344CB8AC3E}">
        <p14:creationId xmlns:p14="http://schemas.microsoft.com/office/powerpoint/2010/main" val="14336589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3B04AE-AF66-4BE1-918D-59C3500F3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07 | Automatic Payments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B885C2-2EB5-4AA9-A9FE-E0E80F904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支払いはフルフィルメントとadjustmentで照合する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9A0C19-66A7-4197-AE47-DB7FE00D3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自動支払いがONの場合、小売業者残高からdebitされ、サプライヤーフルフィルメント後にサプライヤー残高へcreditされます。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EA08A1-6C70-48A0-86EE-D02521A86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74CD3A-B447-45D3-A04F-001930DDD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90B4AA-BB0E-46E0-9C52-AB1F65B6A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051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小売業者注文が支払い済み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6132F3-260A-4D18-A063-3D788F8A2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Mark paidによりサプライヤー支払い用のdebitが発生する場合があります。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606AAA-A9C1-44C8-99D0-3D65F7164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242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11AA08-FCB8-452D-A53A-2379F579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1470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B8DD23-EA56-4E6C-AB84-13405B5D9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2956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サプライヤーがfulfill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73E4DC-56E6-405E-A237-7A32D7304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581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サプライヤー側のフルフィルメント後にサプライヤーへcreditされます。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A130F4-35AC-46F7-B12C-0F89A12BE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147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F3706E-1117-404C-93EB-8ED679991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12EDF0-BE7B-4BE6-8069-256137626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862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Adjustmentで記録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C11F05-7617-4B34-B80A-C93C610FA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7195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関連注文のShopify Payments残高調整として確認できます。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A88216-556E-436E-BD4A-F60BC0687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053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9486AC-CB9F-4A91-90B3-B6ABA02DD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9580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C8F328-F918-48E1-9DB5-6F04058FB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767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Payoutは一対一とは限らない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2045DE-AEF6-4D0C-A902-6A7947C97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返金、返品、reversal、税、送料、タイミング、残高の影響を受けます。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973AEC-6785-495A-A1C2-74CAB88B9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1A2F48-6403-4A8B-B1E3-113D26EEA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C6078E-4CB4-4A89-84D9-10091D911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8/12</a:t>
            </a:r>
          </a:p>
        </p:txBody>
      </p:sp>
    </p:spTree>
    <p:extLst>
      <p:ext uri="{BB962C8B-B14F-4D97-AF65-F5344CB8AC3E}">
        <p14:creationId xmlns:p14="http://schemas.microsoft.com/office/powerpoint/2010/main" val="102849891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6A0B160-16FD-4D2C-ABCC-FAED23339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08 | 状態変更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BD8F6B-F883-41C2-8BCC-32F287ADE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キャンセルと返品は状態で分岐する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FB2032-8AB1-415C-A8EF-5140B21CF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支払い済みか、フルフィル済みか、小売業者の返品設定が何かによって処理が変わります。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40A866-582F-4E24-BCED-BEEBD7F9A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CAB728-6042-46BF-9017-96F5C325C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4C3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Scenario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3299EB-88D4-4900-BC3C-0A7C75CCC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781300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4C3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小売業者 action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7D664-6AF3-4296-84E4-00367F58F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781300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4C3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サプライヤー action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E15994-E77C-40BE-B522-C25D5EC60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781300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4C3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Financial check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43FD61-6A75-4845-AA8E-5E5734467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4C3F"/>
                </a:solidFill>
              </a:defRPr>
            </a:pPr>
            <a:r>
              <a:rPr sz="1200" b="1">
                <a:solidFill>
                  <a:srgbClr val="004C3F"/>
                </a:solidFill>
              </a:rPr>
              <a:t>未払いcancel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970B31-A07B-4250-9F1F-724BF2825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147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Cancellation request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4DF86B-DC8E-430B-A274-B83C4ED71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3147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Collectiveが自動cancel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8478A9-7CC3-48E5-A18D-7E905D9E2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3147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注文と返金状態を確認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2020AE-5E01-4C66-B7AF-32627824C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4C3F"/>
                </a:solidFill>
              </a:defRPr>
            </a:pPr>
            <a:r>
              <a:rPr sz="1200" b="1">
                <a:solidFill>
                  <a:srgbClr val="004C3F"/>
                </a:solidFill>
              </a:rPr>
              <a:t>支払い済cancel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5FED45-1D22-45AD-BC0D-918DC7CB3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0386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サプライヤーへcancel request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7C0560-230B-472A-A97C-DD5C88A2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386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承認または拒否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D1257E-CDB5-463A-86C2-7020080BF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0386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Reversalとadjustment確認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A19C4D-28FF-4C3F-AA28-808E26468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4C3F"/>
                </a:solidFill>
              </a:defRPr>
            </a:pPr>
            <a:r>
              <a:rPr sz="1200" b="1">
                <a:solidFill>
                  <a:srgbClr val="004C3F"/>
                </a:solidFill>
              </a:rPr>
              <a:t>サプライヤーcancel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999DF1-8E54-4CB3-AFE1-B3E956BAB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7625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小売業者注文が自動更新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5FDE99-83B4-44D1-863A-ECB9D2AF8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7625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Fulfillment前にcancel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CD2772-EBAB-484B-B764-8D8DC551D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7625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返金が自動の場合あり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275AFF-F33F-43CE-8D2A-65C0936A6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4C3F"/>
                </a:solidFill>
              </a:defRPr>
            </a:pPr>
            <a:r>
              <a:rPr sz="1200" b="1">
                <a:solidFill>
                  <a:srgbClr val="004C3F"/>
                </a:solidFill>
              </a:rPr>
              <a:t>Return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2E4986-8F75-4A3A-B618-ABB212A56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4864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ラベル/返金方法を選択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8589AB-EB08-4530-85ED-3EAA75063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4864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承認、ラベル、受領、返金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AED328-07D3-45B8-9841-382677D7A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4864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商品、送料、税を照合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2EFB6E-A386-46A2-A3E0-4669C015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221C2B-2DF1-453E-ABDF-F48EA8BA4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E3025A7-3745-4DA7-95BA-B2FF234E6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9/12</a:t>
            </a:r>
          </a:p>
        </p:txBody>
      </p:sp>
    </p:spTree>
    <p:extLst>
      <p:ext uri="{BB962C8B-B14F-4D97-AF65-F5344CB8AC3E}">
        <p14:creationId xmlns:p14="http://schemas.microsoft.com/office/powerpoint/2010/main" val="156929147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9918F5-C91D-4329-A586-1D032E429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09 | FAQ: 注文と金額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5AD5E1-E856-4DD9-8D51-D7196844C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注文と支払いはWebhookと照合を分ける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B1EE1A-B714-4EEC-910B-C4607234E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外部システムはWebhookを変更フィードとして使い、最終金額はpayment adjustmentで照合します。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4ACC48-B6CC-4E43-B881-407751A74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63AA1D-7797-4A86-B674-35D3012A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サプライヤー注文はいつ作成?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53E702-397C-4795-A6E0-CCF4CC905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小売業者注文の支払い後、不正チェックを通過し、保留でなければ作成されます。ERP/OMS/WMS同期は注文作成・更新Webhookを使います。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2CD884-67FD-4D53-AD7A-FA374161D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241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サプライヤー金額の決まり方は?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CE0FC3-4982-44B5-AA82-E41F6C5FB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24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金額は商品原価、サプライヤー送料、税、調整で決まり、顧客checkout総額ではありません。会計連携は注文Webhookとpayment adjustmentを併用します。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5E7568-2889-4B3F-8446-73310480E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入金額と注文金額は一致?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753E90-B523-4A3C-8FE2-A590CEA46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一対一とは限りません。返金、返品、reversal、税、送料、タイミング、残高の影響を受けます。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AA82F7-3ACF-4197-A144-7A1F8F32C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8290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小売業者discount/安値販売時は?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1BE968-5B4B-4DF9-8D4E-3DBF140B9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2291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顧客支払額が下がり、小売業者利益は低下またはマイナスになります。サプライヤーcost priceと注文金額は変わりません。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486C91-04D8-42CF-B81B-D760A4D42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6BD704-B3F3-4680-9132-4042634F9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471174-C21F-4EA3-8A91-8CF923DA7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10/12</a:t>
            </a:r>
          </a:p>
        </p:txBody>
      </p:sp>
    </p:spTree>
    <p:extLst>
      <p:ext uri="{BB962C8B-B14F-4D97-AF65-F5344CB8AC3E}">
        <p14:creationId xmlns:p14="http://schemas.microsoft.com/office/powerpoint/2010/main" val="13830881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6D5618-36AF-45D5-9E91-77B5BA90D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10 | FAQ: 商品と在庫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85D27F-B660-4D67-BD9C-76E14278E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商品FAQはCollective同期と外部同期を分ける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F2683B-3AFE-4E95-8487-F1C3E55D8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Collectiveはサプライヤーから小売業者への同期を担い、外部システムは接続先ストアのWebhookを購読します。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140C57-8DF8-47A4-A4DC-AE137EAC6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DBF76F-0D39-41ED-8CA1-107DDDDFA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在庫同期はどう行われる?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55856A-B383-4C5D-B208-4759FAAB9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サプライヤーのオンライン販売可能在庫が小売業者在庫に反映されます。小売業者側の外部ミラーは商品作成・更新・削除Webhookを使います。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44B1EE-C7A0-4CE2-B4E5-DA0E65E3F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241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在庫は食い違う?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F0CAB4-FF1C-4989-82D8-0FA2F9FD0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24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一時的にはありえます。Shopify checkoutはサプライヤー在庫を確認しますが、手動注文は例外です。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AEFDB3-E680-4DFF-9F88-CAB051059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商品マスターはサプライヤー側必須?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C5C96C-AB22-40EB-9641-8F6C2198C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共有商品はサプライヤーのShopifyストアに存在し、Collective公開が必要です。上流はERP/PIMでも構いません。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734C91-0ACE-4C92-83E1-CE6DF68E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8290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サプライヤーがデータ/価格/在庫を変更したら?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57A819-A2B0-4060-A2DA-22B945A37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2291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同期対象は小売業者データに反映。将来注文は新しい原価、送料、在庫を使い、支払い済み注文は調整がなければ注文時金額を維持します。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ED5BA5-8C88-4076-831F-B76A08052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544F8A-D67B-43E1-ACEC-584F7AA8C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5BC63E-297C-403B-885F-773E504E5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11/12</a:t>
            </a:r>
          </a:p>
        </p:txBody>
      </p:sp>
    </p:spTree>
    <p:extLst>
      <p:ext uri="{BB962C8B-B14F-4D97-AF65-F5344CB8AC3E}">
        <p14:creationId xmlns:p14="http://schemas.microsoft.com/office/powerpoint/2010/main" val="129406980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E68B486-7EB3-460E-8B73-570CC2754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11 | FAQ: 小売業者変更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CF06DE-1703-4A2F-9B41-6EEEE376A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小売業者側の変更はサプライヤーデータや原価を更新しない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D6B58D-4ADE-4599-BB55-F30DBCE04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小売業者ストアのWebhookは小売業者側イベントとして扱い、サプライヤーの元商品変更とは区別します。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3AD47B-3541-4B98-BA93-1F0461797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725A81-064E-48E9-8731-7FA1BD8B7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小売業者がデータ/価格/在庫を変更したら?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B76CF1-BB15-4670-BC48-F0BF9F901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サプライヤー元データと原価は変わりません。サプライヤー注文金額は原価、送料、税、調整に基づきます。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1FB1FE-03F8-4BB1-95C6-DFA6C3AD4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241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小売業者編集は上書きされる?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90A876-9F70-4C01-AB81-1A1802E04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24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サプライヤー管理または同期対象フィールドは、サプライヤー更新で上書きされる場合があります。在庫はサプライヤー管理です。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648741-A1BF-4502-9E36-5662617B8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小売業者が購入者価格を変更したら?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B20007-5507-413E-8A8A-005B8676F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顧客請求額と小売業者利益は変わりますが、サプライヤー原価と注文金額はサプライヤー側条件のままです。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751C8D-9282-42DB-96B4-56C7CE77B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8290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どのWebhookを見る?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0F21FE-7D91-4FD1-9242-0A921CAA8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2291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商品変更、注文、返品・返金の各Webhookで外部システムへ同期します。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41CC92-9351-4E6A-B134-FF4466112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5154EC-7810-45E4-B423-62DCDFBB3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87B591-A884-4362-A7FD-5345A19D1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12/12</a:t>
            </a:r>
          </a:p>
        </p:txBody>
      </p:sp>
    </p:spTree>
    <p:extLst>
      <p:ext uri="{BB962C8B-B14F-4D97-AF65-F5344CB8AC3E}">
        <p14:creationId xmlns:p14="http://schemas.microsoft.com/office/powerpoint/2010/main" val="13379215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2026-06-30T13:26:44.3000000Z</dcterms:created>
  <dcterms:modified xsi:type="dcterms:W3CDTF">2026-06-30T13:26:44.3000000Z</dcterms:modified>
</coreProperties>
</file>