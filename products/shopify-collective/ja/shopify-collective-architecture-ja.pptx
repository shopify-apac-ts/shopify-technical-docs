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eeb06ab87549af" /><Relationship Type="http://schemas.openxmlformats.org/officeDocument/2006/relationships/extended-properties" Target="/docProps/app.xml" Id="Rdfc5e8ab85e949a6" /><Relationship Type="http://schemas.openxmlformats.org/officeDocument/2006/relationships/officeDocument" Target="/ppt/presentation.xml" Id="Rb59d3996fbb341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086a09ab04d46"/>
  </p:sldMasterIdLst>
  <p:notesMasterIdLst>
    <p:notesMasterId xmlns:r="http://schemas.openxmlformats.org/officeDocument/2006/relationships" r:id="R93ce4e7273de4d47"/>
  </p:notesMasterIdLst>
  <p:sldIdLst>
    <p:sldId xmlns:r="http://schemas.openxmlformats.org/officeDocument/2006/relationships" id="256" r:id="Ra5a39a4742794849"/>
    <p:sldId xmlns:r="http://schemas.openxmlformats.org/officeDocument/2006/relationships" id="257" r:id="R7f96d65e13e34f73"/>
    <p:sldId xmlns:r="http://schemas.openxmlformats.org/officeDocument/2006/relationships" id="258" r:id="R66d54c435312446a"/>
    <p:sldId xmlns:r="http://schemas.openxmlformats.org/officeDocument/2006/relationships" id="259" r:id="Ra2aef9ec914a4cf7"/>
    <p:sldId xmlns:r="http://schemas.openxmlformats.org/officeDocument/2006/relationships" id="260" r:id="Re186dc9ff8f845d9"/>
    <p:sldId xmlns:r="http://schemas.openxmlformats.org/officeDocument/2006/relationships" id="261" r:id="R0a14561e7ce645a1"/>
    <p:sldId xmlns:r="http://schemas.openxmlformats.org/officeDocument/2006/relationships" id="262" r:id="R19ecf0cb06f442a0"/>
    <p:sldId xmlns:r="http://schemas.openxmlformats.org/officeDocument/2006/relationships" id="263" r:id="Rbb8f6a84729f4a35"/>
    <p:sldId xmlns:r="http://schemas.openxmlformats.org/officeDocument/2006/relationships" id="264" r:id="R1b3ce2954d544d13"/>
    <p:sldId xmlns:r="http://schemas.openxmlformats.org/officeDocument/2006/relationships" id="265" r:id="R11290b4a9ba14486"/>
    <p:sldId xmlns:r="http://schemas.openxmlformats.org/officeDocument/2006/relationships" id="266" r:id="Ra6670f9ed0d947ac"/>
    <p:sldId xmlns:r="http://schemas.openxmlformats.org/officeDocument/2006/relationships" id="267" r:id="Rd53c910913524a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5640733a914085" /><Relationship Type="http://schemas.openxmlformats.org/officeDocument/2006/relationships/slideMaster" Target="/ppt/slideMasters/slideMaster1.xml" Id="R73d086a09ab04d46" /><Relationship Type="http://schemas.openxmlformats.org/officeDocument/2006/relationships/notesMaster" Target="/ppt/notesMasters/notesMaster1.xml" Id="R93ce4e7273de4d47" /><Relationship Type="http://schemas.openxmlformats.org/officeDocument/2006/relationships/presProps" Target="/ppt/presProps.xml" Id="R923d882cb04c491a" /><Relationship Type="http://schemas.openxmlformats.org/officeDocument/2006/relationships/tableStyles" Target="/ppt/tableStyles.xml" Id="R7f980e53f76240ab" /><Relationship Type="http://schemas.openxmlformats.org/officeDocument/2006/relationships/slide" Target="/ppt/slides/slide1.xml" Id="Ra5a39a4742794849" /><Relationship Type="http://schemas.openxmlformats.org/officeDocument/2006/relationships/slide" Target="/ppt/slides/slide2.xml" Id="R7f96d65e13e34f73" /><Relationship Type="http://schemas.openxmlformats.org/officeDocument/2006/relationships/slide" Target="/ppt/slides/slide3.xml" Id="R66d54c435312446a" /><Relationship Type="http://schemas.openxmlformats.org/officeDocument/2006/relationships/slide" Target="/ppt/slides/slide4.xml" Id="Ra2aef9ec914a4cf7" /><Relationship Type="http://schemas.openxmlformats.org/officeDocument/2006/relationships/slide" Target="/ppt/slides/slide5.xml" Id="Re186dc9ff8f845d9" /><Relationship Type="http://schemas.openxmlformats.org/officeDocument/2006/relationships/slide" Target="/ppt/slides/slide6.xml" Id="R0a14561e7ce645a1" /><Relationship Type="http://schemas.openxmlformats.org/officeDocument/2006/relationships/slide" Target="/ppt/slides/slide7.xml" Id="R19ecf0cb06f442a0" /><Relationship Type="http://schemas.openxmlformats.org/officeDocument/2006/relationships/slide" Target="/ppt/slides/slide8.xml" Id="Rbb8f6a84729f4a35" /><Relationship Type="http://schemas.openxmlformats.org/officeDocument/2006/relationships/slide" Target="/ppt/slides/slide9.xml" Id="R1b3ce2954d544d13" /><Relationship Type="http://schemas.openxmlformats.org/officeDocument/2006/relationships/slide" Target="/ppt/slides/slide10.xml" Id="R11290b4a9ba14486" /><Relationship Type="http://schemas.openxmlformats.org/officeDocument/2006/relationships/slide" Target="/ppt/slides/slide11.xml" Id="Ra6670f9ed0d947ac" /><Relationship Type="http://schemas.openxmlformats.org/officeDocument/2006/relationships/slide" Target="/ppt/slides/slide12.xml" Id="Rd53c91091352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be737c0d54a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c6bf5c363d40c3" /><Relationship Type="http://schemas.openxmlformats.org/officeDocument/2006/relationships/notesMaster" Target="/ppt/notesMasters/notesMaster1.xml" Id="R675769903f67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02fec7c56b4bfc" /><Relationship Type="http://schemas.openxmlformats.org/officeDocument/2006/relationships/notesMaster" Target="/ppt/notesMasters/notesMaster1.xml" Id="R04d86a18e9c44a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a0eca8b7724184" /><Relationship Type="http://schemas.openxmlformats.org/officeDocument/2006/relationships/notesMaster" Target="/ppt/notesMasters/notesMaster1.xml" Id="R5e136f0eab9140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c9df7913f64209" /><Relationship Type="http://schemas.openxmlformats.org/officeDocument/2006/relationships/notesMaster" Target="/ppt/notesMasters/notesMaster1.xml" Id="Rc1fa66bc95f0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ad0709566e4e3e" /><Relationship Type="http://schemas.openxmlformats.org/officeDocument/2006/relationships/notesMaster" Target="/ppt/notesMasters/notesMaster1.xml" Id="R23259af01aaf40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3a6bdd05f45bd" /><Relationship Type="http://schemas.openxmlformats.org/officeDocument/2006/relationships/notesMaster" Target="/ppt/notesMasters/notesMaster1.xml" Id="Rad1a5f11a25942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b6a5cfbc6e4c26" /><Relationship Type="http://schemas.openxmlformats.org/officeDocument/2006/relationships/notesMaster" Target="/ppt/notesMasters/notesMaster1.xml" Id="R70d12785917b4b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922c4841204a96" /><Relationship Type="http://schemas.openxmlformats.org/officeDocument/2006/relationships/notesMaster" Target="/ppt/notesMasters/notesMaster1.xml" Id="Ra1f7fc5159ad45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aba351b1124ff0" /><Relationship Type="http://schemas.openxmlformats.org/officeDocument/2006/relationships/notesMaster" Target="/ppt/notesMasters/notesMaster1.xml" Id="Rdb59206ad3bb4a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71217048eb4697" /><Relationship Type="http://schemas.openxmlformats.org/officeDocument/2006/relationships/notesMaster" Target="/ppt/notesMasters/notesMaster1.xml" Id="Rf9a3726b2eea43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bf2628b6114580" /><Relationship Type="http://schemas.openxmlformats.org/officeDocument/2006/relationships/notesMaster" Target="/ppt/notesMasters/notesMaster1.xml" Id="Reb521a06bda949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c2439347704551" /><Relationship Type="http://schemas.openxmlformats.org/officeDocument/2006/relationships/notesMaster" Target="/ppt/notesMasters/notesMaster1.xml" Id="R0e6e43b91b4645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440e58c7145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010eddd7c24eb9" /><Relationship Type="http://schemas.openxmlformats.org/officeDocument/2006/relationships/slideLayout" Target="/ppt/slideLayouts/slideLayout1.xml" Id="R3479a5c2836542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79a5c2836542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ce47b7dc0453a" /><Relationship Type="http://schemas.openxmlformats.org/officeDocument/2006/relationships/notesSlide" Target="/ppt/notesSlides/notesSlide1.xml" Id="R1b6a5fa1cb2f41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737a8d2b74d82" /><Relationship Type="http://schemas.openxmlformats.org/officeDocument/2006/relationships/notesSlide" Target="/ppt/notesSlides/notesSlide2.xml" Id="R56e6c837af6543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2d1c1943481f" /><Relationship Type="http://schemas.openxmlformats.org/officeDocument/2006/relationships/notesSlide" Target="/ppt/notesSlides/notesSlide3.xml" Id="R4c6c92a6f703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a21570fe2422a" /><Relationship Type="http://schemas.openxmlformats.org/officeDocument/2006/relationships/notesSlide" Target="/ppt/notesSlides/notesSlide4.xml" Id="Rf68daec1339346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755daf7004d7c" /><Relationship Type="http://schemas.openxmlformats.org/officeDocument/2006/relationships/notesSlide" Target="/ppt/notesSlides/notesSlide5.xml" Id="R59a908f3288947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2b9f394524206" /><Relationship Type="http://schemas.openxmlformats.org/officeDocument/2006/relationships/notesSlide" Target="/ppt/notesSlides/notesSlide6.xml" Id="Rbdbbaf469fb241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88d39787d4c8e" /><Relationship Type="http://schemas.openxmlformats.org/officeDocument/2006/relationships/notesSlide" Target="/ppt/notesSlides/notesSlide7.xml" Id="R5e1b5286d91a4e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c0d59afd54db6" /><Relationship Type="http://schemas.openxmlformats.org/officeDocument/2006/relationships/notesSlide" Target="/ppt/notesSlides/notesSlide8.xml" Id="R8765868ea1ec4c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c57d41719465f" /><Relationship Type="http://schemas.openxmlformats.org/officeDocument/2006/relationships/notesSlide" Target="/ppt/notesSlides/notesSlide9.xml" Id="R10891c59093b4a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e006f682e4b14" /><Relationship Type="http://schemas.openxmlformats.org/officeDocument/2006/relationships/notesSlide" Target="/ppt/notesSlides/notesSlide10.xml" Id="R02fa2aada4c642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2b12d6591485b" /><Relationship Type="http://schemas.openxmlformats.org/officeDocument/2006/relationships/notesSlide" Target="/ppt/notesSlides/notesSlide11.xml" Id="Rae7653cc0ca746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3dc693f184416" /><Relationship Type="http://schemas.openxmlformats.org/officeDocument/2006/relationships/notesSlide" Target="/ppt/notesSlides/notesSlide12.xml" Id="R407439849a5f4d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4C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742F2A-78E3-4526-873D-B897CB1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Shopify Technical Docs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4FDA6-4250-4C19-A256-44D8BA8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906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2FDF4A"/>
                </a:solidFill>
              </a:defRPr>
            </a:pPr>
            <a:r>
              <a:rPr sz="7200" b="1">
                <a:solidFill>
                  <a:srgbClr val="2FDF4A"/>
                </a:solidFill>
              </a:rPr>
              <a:t>Shopify Collective</a:t>
            </a:r>
          </a:p>
          <a:p xmlns:a="http://schemas.openxmlformats.org/drawingml/2006/main">
            <a:pPr algn="l">
              <a:defRPr sz="7200" b="1">
                <a:solidFill>
                  <a:srgbClr val="2FDF4A"/>
                </a:solidFill>
              </a:defRPr>
            </a:pPr>
            <a:r>
              <a:rPr sz="7200" b="1">
                <a:solidFill>
                  <a:srgbClr val="2FDF4A"/>
                </a:solidFill>
              </a:rPr>
              <a:t>アーキテクチャ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A7AC0-A185-4FB3-84C9-D74E1782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商品同期、注文、支払い、返品までのRetailer/Supplierフロー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08776-78C4-420F-A496-A7788C11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962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DF4A"/>
                </a:solidFill>
              </a:defRPr>
            </a:pPr>
            <a:r>
              <a:rPr sz="1050" b="1">
                <a:solidFill>
                  <a:srgbClr val="2FDF4A"/>
                </a:solidFill>
              </a:rPr>
              <a:t>PPTX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107415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334EB-2126-4053-BB06-EC0DD219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01 | システム境界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372C0-563E-4F8F-B829-77E720D7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Collectiveはマーチャント間の処理をつなぐ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B4C1E-EA7C-4CF9-8657-0ED7B9F5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Supplierの商品、Retailerの販売、Collectiveの同期・注文ルーティングを分けて見ると理解しやすくなります。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FAE79-7C3B-4C60-973A-06FB629A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16318-07A2-4E07-93E2-BEDAF31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Supplier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18A2F-D0F7-4206-8B90-8AA19DE4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商品を所有し、price list、cost price、supplier shippingを設定し、顧客へ直接フルフィルメントします。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CE863-5928-4C91-99C5-B1F350B2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4C3F"/>
                </a:solidFill>
              </a:defRPr>
            </a:pPr>
            <a:r>
              <a:rPr sz="1875" b="1">
                <a:solidFill>
                  <a:srgbClr val="004C3F"/>
                </a:solidFill>
              </a:rPr>
              <a:t>Shopify Collective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B1A33-83FE-49E5-BDB6-CFAB1717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商品インポート、在庫とcost price同期、注文ルーティング、支払い記録の調整を担います。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BBBE99-DA75-4A7C-BBEC-7B878E9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329565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0"/>
                </a:solidFill>
              </a:defRPr>
            </a:pPr>
            <a:r>
              <a:rPr sz="1875" b="1">
                <a:solidFill>
                  <a:srgbClr val="101820"/>
                </a:solidFill>
              </a:rPr>
              <a:t>Retailer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1926E-54B6-439A-B2E5-5CFEC22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28384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商品をインポートして販売し、顧客接点を持ち、購入者向け価格や送料を設定します。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357B0-FEB1-4AFB-AE72-7D953E2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1A3DD-C1BE-4161-83D6-8FEBEC2E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F510E-BD20-421A-9E49-A6BC04F7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75628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FD532-534E-4B9D-9BE1-E70A48F3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02 | 商品共有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7E3EA-FDE8-450C-9F89-5B94C699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商品共有はSupplierのprice listから始まる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6DE3B-8951-443E-9EBD-127259A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商品はSupplierのShopifyストアに存在し、ACTIVEで、Collective Supplierチャネルに公開され、price listに含まれる必要があります。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512C5-AE53-4128-BC1C-A4321B70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53AE4-B8D9-497C-9DB4-2DD7CF2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商品作成・同期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04EEC-7F50-41E2-A260-F49F56D4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ERP/PIMを上流にしても、共有商品はShopifyに必要です。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B62AE-EEC2-4755-AF76-9ED78F46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BC3B8-93BA-429D-BAF0-84BD52EE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ACTIVEで公開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03B28-8528-40BD-8F7B-96199571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Collective Supplierチャネルへ商品を公開します。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8F3C6-2A27-4352-9C63-82D10A50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59132-44D8-4032-B961-B4B732A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Price list作成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81841-EB0C-4B9A-BDA0-54B42855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商品、margin、cost price条件、送料を設定します。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0AA85-13E4-4169-9524-65FAC38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304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5B9A65-A5EA-45ED-B91B-4036D66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21526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C3F"/>
                </a:solidFill>
              </a:defRPr>
            </a:pPr>
            <a:r>
              <a:rPr sz="1425" b="1">
                <a:solidFill>
                  <a:srgbClr val="004C3F"/>
                </a:solidFill>
              </a:rPr>
              <a:t>Retailerがimport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49E68-6FD4-4B50-9F83-DE8E7FF1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1885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Collectiveタグ付き商品がRetailerストアに作成されます。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D2A95-A0CC-4F6C-A27D-F15CDE9A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Price listはapp/adminで管理し、public APIでは作成しません。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2A99B-D0EB-4360-9B9C-B2279FA7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Open / closed accessでインポート可能な相手が変わります。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19D55-0742-4EB6-A92F-9F0E92F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商品情報は設定により継続同期できます。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4AB28-29E9-49C7-8229-03DA510B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06A5B-D947-4F33-B571-C2E291A9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3A6D6-B20C-483D-AC5F-91042EBB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840534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8F24C-9BE1-4BE5-954A-6FF71EB7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03 | 在庫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D1A64-4C39-4B0A-B68A-0AAF48D9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インポート商品はSupplier在庫を参照する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25A4-3AB0-4EEF-AA58-BB92105E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Retailerの利用可能在庫はSupplier起点で反映され、Shopify checkoutでもSupplier在庫が確認されます。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C420E-FF8E-4876-8492-A6708D23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1FBA-9C22-4FC3-9ACE-8B376D57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Supplier在庫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6210E-3D2C-4A74-802C-5B0EBFA9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Supplierのオンライン販売可能在庫がRetailer在庫に反映されます。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21B1C-6DA9-4A7C-BF74-98449225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444D7-95F7-44CC-A1A1-1976570F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共有減算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5F452-6E64-4558-8BDF-C2163CEA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Supplierまたは接続Retailerでの購入が在庫を減らします。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8D912-CAA6-4805-853D-8E9CE0D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438AB-9087-4EB0-A118-7EF0C23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伝播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3E32D-C7F6-4E84-B1DE-3E0F5C0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変更は接続ストアへ同期されます。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506AC-C379-429B-ABF9-BBE613AA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F2A17-3EDD-4ECB-B6C8-97355B4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0"/>
                </a:solidFill>
              </a:defRPr>
            </a:pPr>
            <a:r>
              <a:rPr sz="1425" b="1">
                <a:solidFill>
                  <a:srgbClr val="101820"/>
                </a:solidFill>
              </a:rPr>
              <a:t>Checkout確認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2183F-A4D4-47B5-A005-4CC3EAA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Shopify checkoutがSupplier在庫を確認します。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89A7BC-FFB6-4B2A-91A6-E6FA9A1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52800"/>
            <a:ext cx="171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4C3F"/>
                </a:solidFill>
              </a:defRPr>
            </a:pPr>
            <a:r>
              <a:rPr sz="3000" b="1">
                <a:solidFill>
                  <a:srgbClr val="004C3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DACB7-6E2B-4590-A19C-41F1FCB2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169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C3F"/>
                </a:solidFill>
              </a:defRPr>
            </a:pPr>
            <a:r>
              <a:rPr sz="1425" b="1">
                <a:solidFill>
                  <a:srgbClr val="004C3F"/>
                </a:solidFill>
              </a:rPr>
              <a:t>手動例外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1FA17-EC8A-43FF-A80F-4583C5F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手動注文作成にはcheckout保護が効きません。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C2424-2C28-4146-8284-454FF106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伝播中の一時的な在庫差分はありえます。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9B50A-9E56-4E7A-BBFA-A5A19B14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平均同期は30秒未満、最大5分かかる場合があります。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07E0-2F26-4F94-A72E-B958F1B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Collective在庫設定の変更は同期を壊す可能性があります。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A47E0-7BFD-4A51-807C-68914888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AC2285-A4AE-4364-9B7A-E85CBF0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E76787-F2DA-42ED-AC99-30A7253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541908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E4FC8B-8FC1-40A7-B317-2B66BC0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04 | 価格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B97F5-8D67-4B02-8382-2B5F2DB1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Cost priceとretail priceは別の管理対象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E96CF-816C-409D-8211-8E1243DD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Supplierへ支払うcost priceと、購入者に見せるretail price / discountを分けて考えます。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89CA8-90D0-4D2F-B543-D65E8E3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6CF29-5715-48E7-944E-27823A24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4C3F"/>
                </a:solidFill>
              </a:defRPr>
            </a:pPr>
            <a:r>
              <a:rPr sz="2025" b="1">
                <a:solidFill>
                  <a:srgbClr val="004C3F"/>
                </a:solidFill>
              </a:rPr>
              <a:t>Supplier cost price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C1A62-C162-4767-B945-E6E31D2E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Supplier price listから常時同期され、Retailerは編集できません。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1C945-2619-4EFB-A84B-5529BE64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Retailer retail price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54670-C0EE-427D-AB6A-DDE4CCE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Retail price syncがONでなければ、購入者向け価格はRetailerが管理できます。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DBE15-DF82-4332-998D-FE33B796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14750"/>
            <a:ext cx="66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7706"/>
                </a:solidFill>
              </a:defRPr>
            </a:pPr>
            <a:r>
              <a:rPr sz="4350" b="1">
                <a:solidFill>
                  <a:srgbClr val="D97706"/>
                </a:solidFill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B6344-CCC7-4180-926F-673112E2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RetailerのディスカウントはRetailer利益を減らしますが、Supplier cost priceは変えません。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7A6B5-56DB-4E98-8C43-0CB9A7A6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8BB18-65CF-4BF8-832F-4174DBB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79C037-7EF7-4207-9473-79F11097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26227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692E3D-E51A-47A8-A6D4-89EAA55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05 | 配送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7D877-FF09-4E56-ACCC-DE4F3180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配送には二つの経済レートがある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EAFAE-D295-45C5-85A8-F2D9DDCC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購入者に請求する送料と、SupplierがRetailerへ請求する送料を分けてモデル化します。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DA6A2-990E-4857-9D7E-0517D84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63EA9-80A2-459A-84C7-520CB1C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A6DFC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4C3F"/>
                </a:solidFill>
              </a:defRPr>
            </a:pPr>
            <a:r>
              <a:rPr sz="2025" b="1">
                <a:solidFill>
                  <a:srgbClr val="004C3F"/>
                </a:solidFill>
              </a:rPr>
              <a:t>SupplierがRetailerへ請求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852A6-B5A5-42ED-8441-05C540A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Supplier shipping ratesが、RetailerがSupplierへ支払う送料を決めます。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3393F-6596-4E2D-9E09-FD38BEFF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8958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Retailerが購入者へ請求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618D1-0515-415A-ABC4-0C89DB9B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33800"/>
            <a:ext cx="4248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</a:defRPr>
            </a:pPr>
            <a:r>
              <a:rPr sz="1575" b="0">
                <a:solidFill>
                  <a:srgbClr val="101820"/>
                </a:solidFill>
              </a:rPr>
              <a:t>標準profileではSupplierレートを返し、custom profileでは別の購入者向け送料を設定できます。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5B83F-5DE8-48AB-8F43-C23614B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14750"/>
            <a:ext cx="66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97706"/>
                </a:solidFill>
              </a:defRPr>
            </a:pPr>
            <a:r>
              <a:rPr sz="4350" b="1">
                <a:solidFill>
                  <a:srgbClr val="D97706"/>
                </a:solidFill>
              </a:rPr>
              <a:t>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E3C8A-F542-4AF3-ACEB-F70FEB36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送料差益または送料補助はRetailer側の経済性として扱います。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A8486-B4CE-4279-8E83-32D159F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15C54-AAE4-47D6-BE52-4BD088C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89FDF-A974-442C-870B-630A837E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507634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B898E-E930-4424-962E-EFB9B2C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06 | 注文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D2BEC-8ED3-4B1E-A798-01FB3FE9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Supplier注文は支払いと不正チェック後に作られる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7FAEB-AC93-4A0D-9152-FF0EBBC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Retailer注文が先に作成され、その後CollectiveがSupplier注文とfulfillment orderをリンクします。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85656-8CB0-40D3-B583-CF6BE17E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9BFBA-0FEA-4C7F-86FB-75573B73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FDA7-4963-4DAD-9D6B-EBBE6E99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購入者がRetailerでcheckout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F8AB8-80FC-432D-B9F0-F94D6110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Retailer注文にShopify Collectiveタグが付きます。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DFEE7-BAFD-443B-9674-BC474539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AC611-46E9-4D67-81E9-B0A6D1D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04FA9-9E2F-4ABC-842E-7DB7776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Collectiveが約2分待つ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D701F-3238-443D-9FF1-E682BFA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支払いと不正チェックを行い、注文が保留でないことを確認します。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27564-CBA3-4239-938C-8158FFE9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E88CA-1A25-483B-A066-7D957BEF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B69AC-E66C-490C-895F-B1A15DE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Supplier注文を作成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7DDB6-3DFB-45DD-83EC-2732B912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Fulfillment requestを送り、Retailer fulfillmentとSupplier注文をリンクします。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9A0E5-5B21-4CCF-9BFC-EB51701A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A0651-CDF1-44EF-A2DC-6D1EF790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DF578-55C2-4359-A8C6-59AD1D16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Supplierが顧客へ出荷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903D1-EDBC-4D06-968B-FEAC1945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SupplierはRetailerではなくエンド顧客へ直接フルフィルメントします。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9D4F6-9481-46E3-8C40-E6305117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7D1AC-26A0-4C50-9A63-2FBCA995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50E7C6-DD9A-4CDD-B2CF-1283FF24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状態をRetailerへ同期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1EC7B-FF8F-469D-9B24-AFF294C0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FulfillmentとtrackingがRetailer注文へ反映されます。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DD93AF-5D6F-4B2A-969F-EB6D84DE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DE993-0A98-460A-9C5D-96D8D72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32C503-5F92-4654-A5B3-AB968E1B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2049739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93093-2EFE-4020-AE17-5FCFA367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07 | Automatic Payments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771BB-5457-49C4-93D0-2A3B8B22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支払いはフルフィルメントとadjustmentで照合する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CFC64-BD2C-4F85-BE43-3C1A3161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自動支払いがONの場合、Retailer残高からdebitされ、Supplierフルフィルメント後にSupplier残高へcreditされます。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3482F-ED8D-4642-B05D-8EA123A1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9A51C-EB67-443E-82A2-C960CCD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41291-C045-4BE5-B905-8FB37917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Retailer注文が支払い済み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E9351-C4F4-489F-B252-F8B15629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Mark paidによりSupplier支払い用のdebitが発生する場合があります。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F2738-F500-4B67-ACCF-A4744022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858A0-029D-47C3-B353-439B733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31A82-2A03-4C5F-8D6A-A0C5D70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956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Supplierがfulfill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FBAB9-4C8A-48CB-97A4-8F42DE6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Supplier側のフルフィルメント後にSupplierへcreditされます。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2A919-F905-4687-AC08-686943EC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BC1FF-1EA0-4BB9-8FF0-7D131D1E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4ABD6-9283-4784-BCA0-22061999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Adjustmentで記録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1B781-7228-475A-8CB7-F6775392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719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関連注文のShopify Payments残高調整として確認できます。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E8B329-C221-4BE2-8603-1AF5AAC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4C3F"/>
                </a:solidFill>
              </a:defRPr>
            </a:pPr>
            <a:r>
              <a:rPr sz="1800" b="1">
                <a:solidFill>
                  <a:srgbClr val="004C3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002D7-118F-41A5-B375-5A8AF176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6096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5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</a:defRPr>
            </a:pPr>
            <a:r>
              <a:rPr sz="1500" b="1">
                <a:solidFill>
                  <a:srgbClr val="10182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2C0679-9F56-4E20-9C87-4E9E049B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0"/>
                </a:solidFill>
              </a:defRPr>
            </a:pPr>
            <a:r>
              <a:rPr sz="1575" b="1">
                <a:solidFill>
                  <a:srgbClr val="101820"/>
                </a:solidFill>
              </a:rPr>
              <a:t>Payoutは一対一とは限らない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548D4-D821-48DA-8461-83941AA7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</a:defRPr>
            </a:pPr>
            <a:r>
              <a:rPr sz="1200" b="0">
                <a:solidFill>
                  <a:srgbClr val="52615B"/>
                </a:solidFill>
              </a:rPr>
              <a:t>返金、返品、reversal、税、送料、タイミング、残高の影響を受けます。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5F1F8-096F-4D32-9924-1D42EB82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CD8FC-7BE5-42BC-8A68-675B05C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E38F5-680D-4845-932B-A58F0C6E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2011813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9BA31-2B2B-459A-B2B7-54489FB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08 | 状態変更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795C9-42F3-4075-823B-F30A1D54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キャンセルと返品は状態で分岐する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E6A08-6652-4A83-9BB3-CE84CEAF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支払い済みか、フルフィル済みか、Retailerの返品設定が何かによって処理が変わります。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DF1C-C5C2-4C48-9BF7-182575C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75839-D571-407D-AFCD-D4A29579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8846C-632F-411A-AB44-5FAA678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Retailer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187EB-91DA-432F-8781-2AE424D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Supplier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3A6A1-AB43-45F5-A50E-85880B9F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4C3F"/>
          </a:solidFill>
          <a:ln xmlns:a="http://schemas.openxmlformats.org/drawingml/2006/main" w="9525">
            <a:solidFill>
              <a:srgbClr val="004C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Financial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1B3AD7-05DA-4DE9-BC79-4E632B8C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未払いcancel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2CBEB-71A0-471B-80BD-85235638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Cancellation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6885A-99EF-4267-A15C-C41915A2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Collectiveが自動cancel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211A6-266E-41AE-85D5-3F9A8763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147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注文と返金状態を確認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91326-793E-4587-A8BB-AA6A053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支払い済cancel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3844-7907-4DAA-A703-94BC1C80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Supplierへcancel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0969F-0156-49F4-B5C0-48039297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承認または拒否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07CDF-A4BB-4B47-91C9-2C66EA8F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Reversalとadjustment確認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D98B9-8914-4E40-A347-A2FB280A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Supplier cancel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09E9E-194C-4538-B488-78418C8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Retailer注文が自動更新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2896F-8672-4FF8-B505-80134B33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Fulfillment前にcancel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76116-08C6-4872-8F0A-D9284F0C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返金が自動の場合あり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7EC87-F523-4BFF-A5F7-8B5AC5F6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9F7E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C3F"/>
                </a:solidFill>
              </a:defRPr>
            </a:pPr>
            <a:r>
              <a:rPr sz="1200" b="1">
                <a:solidFill>
                  <a:srgbClr val="004C3F"/>
                </a:solidFill>
              </a:rPr>
              <a:t>Return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C1E5E-2A39-45F9-B044-F9DFF39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ラベル/返金方法を選択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8D955-2D17-4C17-B678-2B878FE3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承認、ラベル、受領、返金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652DB-783E-491B-BE10-9A71DD6D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8640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101820"/>
                </a:solidFill>
              </a:defRPr>
            </a:pPr>
            <a:r>
              <a:rPr sz="1088" b="0">
                <a:solidFill>
                  <a:srgbClr val="101820"/>
                </a:solidFill>
              </a:rPr>
              <a:t>商品、送料、税を照合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1C61D-7ECB-406A-BC70-E0A9E633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BE960-F87D-48A3-9C63-E4991FF9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5ACA6F-4A20-4C72-B66E-69B3317D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3293135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6423B-73C3-45B4-B00B-288034C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09 | FAQ: 注文と金額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15CF5-D872-46F8-86C9-37173A0B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注文と支払いはWebhookと照合を分ける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FC53A7-E69D-41E8-ABA8-E57DC170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外部システムはWebhookを変更フィードとして使い、最終金額はpayment adjustmentで照合します。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6EE18-36C4-4DCD-B868-DEDFC38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2B355-2896-4808-ADDC-3030B819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Supplier注文はいつ作成?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8D006-B844-4412-937D-DB106412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Retailer注文の支払い後、不正チェックを通過し、保留でなければ作成されます。ERP/OMS/WMS同期は注文作成・更新Webhookを使います。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06DC9-4323-4D54-B12A-F1C6C7B6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Supplier金額の決まり方は?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CA8AE-AAC9-4B43-BD6D-FAD4D99C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Cost price、supplier shipping、税、調整で決まり、顧客checkout総額そのものではありません。会計連携では注文Webhookとpayment adjustmentを併用します。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7D499-D0C6-4F47-8712-8887F53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入金額と注文金額は一致?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71738-372B-46A7-ACEC-F7C67F30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一対一とは限りません。返金、返品、reversal、税、送料、タイミング、残高の影響を受けます。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1387A-4378-4DF2-B99F-A31213F8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Retailer discount時は?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469AB-FBE8-4891-A742-D127829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顧客支払額が下がりRetailer利益が減ります。Supplier cost priceは変わりません。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A5AF-9087-4CBB-8CD3-B0AF591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F95AF-F11C-41C4-8D74-25FD9E6F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2981B-4A12-42F8-8435-0D2F5399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5389131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056323-C9DC-473C-9A23-AF8FE37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10 | FAQ: 商品と在庫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0C2EE-0D41-4735-AEA3-1AE0F40F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商品FAQはCollective同期と外部同期を分ける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35368-1877-4A50-BA20-A888516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CollectiveはSupplierからRetailerへの同期を担い、外部システムは接続先ストアのWebhookを購読します。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AF632-3F05-41EC-A31C-BB440C1F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68091-9090-4307-ACBB-ADB3A18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在庫同期はどう行われる?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22B77-A7D1-4183-8E07-566686B8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Supplierのオンライン販売可能在庫がRetailer在庫に反映されます。Retailer側の外部ミラーは商品作成・更新・削除Webhookを使います。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6D18C-553A-44A9-B282-20D3A4D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在庫は食い違う?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A57EA-0546-4987-8336-EABCB9B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一時的にはありえます。Shopify checkoutはSupplier在庫を確認しますが、手動注文は例外です。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82655-CF5A-4C1C-AC1F-C202DED9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商品マスターはSupplier側必須?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20747-B6A2-4A0A-9727-B204026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Collectiveで共有する商品はSupplierのShopifyストアに存在し、Collectiveへ公開される必要があります。上流はERP/PIMでも構いません。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10D53-D564-4270-89C5-4B64CA2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Supplier変更時は?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0BB7B-13F6-4E41-9D3A-2B36801D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在庫とcost priceは同期されます。その他の商品情報は設定次第です。Retailer側の外部連携は商品Webhookで追従します。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744A7-B9E2-4719-BFF4-BF541D49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4CBD3-F0B2-4DF4-8B8C-A020A879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DE1F1-6130-4423-8134-8A302338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8047684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F3E185-9F68-4093-9AEB-DEC6F3C2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4C3F"/>
                </a:solidFill>
              </a:defRPr>
            </a:pPr>
            <a:r>
              <a:rPr sz="1050" b="1">
                <a:solidFill>
                  <a:srgbClr val="004C3F"/>
                </a:solidFill>
              </a:rPr>
              <a:t>11 | FAQ: Retailer変更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F0DF5-EB9A-48A0-BFD2-EBA4BF9F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Retailer側の変更はSupplierマスターを更新しない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19D9B-D16F-444C-B6F8-54C5818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5B"/>
                </a:solidFill>
              </a:defRPr>
            </a:pPr>
            <a:r>
              <a:rPr sz="1350" b="0">
                <a:solidFill>
                  <a:srgbClr val="52615B"/>
                </a:solidFill>
              </a:rPr>
              <a:t>RetailerストアのWebhookはRetailer側イベントとして扱い、Supplierの元商品変更とは区別します。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615C6-E3F7-41B2-BC78-C308081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3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79E86-61BE-4960-A641-28A343D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Retailerが商品を変更したら?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266C-43A4-471A-B93D-7771B40E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Retailer編集はSupplierの元商品を更新しません。Supplier管理フィールドはSupplier側が管理します。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C2FE8-AC67-49DA-A959-05E03E77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Retailerが価格を変更したら?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4FC66-89E4-4980-AB1D-296C5E73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242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Retail price syncがOFFならRetailerがretail priceを管理できます。Supplier cost priceはSupplier管理です。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07CFE-5032-423F-8B94-9A8F9CEE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Retailerが在庫を変更したら?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E8436-272F-4467-8078-B2866108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インポートされたCollective在庫はSupplier管理で、Retailer adminでは読み取り専用です。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73F45-19FD-425E-9408-AFAC0F65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4C3F"/>
                </a:solidFill>
              </a:defRPr>
            </a:pPr>
            <a:r>
              <a:rPr sz="1350" b="1">
                <a:solidFill>
                  <a:srgbClr val="004C3F"/>
                </a:solidFill>
              </a:rPr>
              <a:t>どのWebhookを見る?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7B81F8-DEE0-4743-ABE2-9A990651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2615B"/>
                </a:solidFill>
              </a:defRPr>
            </a:pPr>
            <a:r>
              <a:rPr sz="1088" b="0">
                <a:solidFill>
                  <a:srgbClr val="52615B"/>
                </a:solidFill>
              </a:rPr>
              <a:t>商品変更、注文、返品・返金の各Webhookで外部システムへ同期します。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EFBDD-D79A-4C93-B72E-820041B5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4EFFD-0F92-4592-A067-62AA5CE3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Shopify Collective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31163-8B5A-4A92-88E4-6DB0C90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615B"/>
                </a:solidFill>
              </a:defRPr>
            </a:pPr>
            <a:r>
              <a:rPr sz="825" b="0">
                <a:solidFill>
                  <a:srgbClr val="52615B"/>
                </a:solidFill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498199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2026-06-30T12:52:00.4660000Z</dcterms:created>
  <dcterms:modified xsi:type="dcterms:W3CDTF">2026-06-30T12:52:00.4660000Z</dcterms:modified>
</coreProperties>
</file>