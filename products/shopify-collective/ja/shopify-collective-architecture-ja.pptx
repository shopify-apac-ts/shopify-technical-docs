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c08bde089848ba" /><Relationship Type="http://schemas.openxmlformats.org/officeDocument/2006/relationships/extended-properties" Target="/docProps/app.xml" Id="Ra2e3c69342f8415e" /><Relationship Type="http://schemas.openxmlformats.org/officeDocument/2006/relationships/officeDocument" Target="/ppt/presentation.xml" Id="R791d783539234c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0f6d165a424d8e"/>
  </p:sldMasterIdLst>
  <p:notesMasterIdLst>
    <p:notesMasterId xmlns:r="http://schemas.openxmlformats.org/officeDocument/2006/relationships" r:id="Rf0c047a664314ae1"/>
  </p:notesMasterIdLst>
  <p:sldIdLst>
    <p:sldId xmlns:r="http://schemas.openxmlformats.org/officeDocument/2006/relationships" id="256" r:id="R0e827e2aea854567"/>
    <p:sldId xmlns:r="http://schemas.openxmlformats.org/officeDocument/2006/relationships" id="257" r:id="R7ec4521eb53747cf"/>
    <p:sldId xmlns:r="http://schemas.openxmlformats.org/officeDocument/2006/relationships" id="258" r:id="Rca6596332ab64d10"/>
    <p:sldId xmlns:r="http://schemas.openxmlformats.org/officeDocument/2006/relationships" id="259" r:id="R31c9b2a91b13480a"/>
    <p:sldId xmlns:r="http://schemas.openxmlformats.org/officeDocument/2006/relationships" id="260" r:id="R24c327b678a14ece"/>
    <p:sldId xmlns:r="http://schemas.openxmlformats.org/officeDocument/2006/relationships" id="261" r:id="R80ee4155adcf4018"/>
    <p:sldId xmlns:r="http://schemas.openxmlformats.org/officeDocument/2006/relationships" id="262" r:id="R14c9358e70194707"/>
    <p:sldId xmlns:r="http://schemas.openxmlformats.org/officeDocument/2006/relationships" id="263" r:id="R41532fc556a1455a"/>
    <p:sldId xmlns:r="http://schemas.openxmlformats.org/officeDocument/2006/relationships" id="264" r:id="R47b7856951e14e71"/>
    <p:sldId xmlns:r="http://schemas.openxmlformats.org/officeDocument/2006/relationships" id="265" r:id="R4d7e4540fd404842"/>
    <p:sldId xmlns:r="http://schemas.openxmlformats.org/officeDocument/2006/relationships" id="266" r:id="Rc2181f3aecd34b99"/>
    <p:sldId xmlns:r="http://schemas.openxmlformats.org/officeDocument/2006/relationships" id="267" r:id="Re5e73a714e774ce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206c9f56aa44f1" /><Relationship Type="http://schemas.openxmlformats.org/officeDocument/2006/relationships/slideMaster" Target="/ppt/slideMasters/slideMaster1.xml" Id="R230f6d165a424d8e" /><Relationship Type="http://schemas.openxmlformats.org/officeDocument/2006/relationships/notesMaster" Target="/ppt/notesMasters/notesMaster1.xml" Id="Rf0c047a664314ae1" /><Relationship Type="http://schemas.openxmlformats.org/officeDocument/2006/relationships/presProps" Target="/ppt/presProps.xml" Id="R8363385d64e64e6c" /><Relationship Type="http://schemas.openxmlformats.org/officeDocument/2006/relationships/tableStyles" Target="/ppt/tableStyles.xml" Id="Re68887ef8b554b5f" /><Relationship Type="http://schemas.openxmlformats.org/officeDocument/2006/relationships/slide" Target="/ppt/slides/slide1.xml" Id="R0e827e2aea854567" /><Relationship Type="http://schemas.openxmlformats.org/officeDocument/2006/relationships/slide" Target="/ppt/slides/slide2.xml" Id="R7ec4521eb53747cf" /><Relationship Type="http://schemas.openxmlformats.org/officeDocument/2006/relationships/slide" Target="/ppt/slides/slide3.xml" Id="Rca6596332ab64d10" /><Relationship Type="http://schemas.openxmlformats.org/officeDocument/2006/relationships/slide" Target="/ppt/slides/slide4.xml" Id="R31c9b2a91b13480a" /><Relationship Type="http://schemas.openxmlformats.org/officeDocument/2006/relationships/slide" Target="/ppt/slides/slide5.xml" Id="R24c327b678a14ece" /><Relationship Type="http://schemas.openxmlformats.org/officeDocument/2006/relationships/slide" Target="/ppt/slides/slide6.xml" Id="R80ee4155adcf4018" /><Relationship Type="http://schemas.openxmlformats.org/officeDocument/2006/relationships/slide" Target="/ppt/slides/slide7.xml" Id="R14c9358e70194707" /><Relationship Type="http://schemas.openxmlformats.org/officeDocument/2006/relationships/slide" Target="/ppt/slides/slide8.xml" Id="R41532fc556a1455a" /><Relationship Type="http://schemas.openxmlformats.org/officeDocument/2006/relationships/slide" Target="/ppt/slides/slide9.xml" Id="R47b7856951e14e71" /><Relationship Type="http://schemas.openxmlformats.org/officeDocument/2006/relationships/slide" Target="/ppt/slides/slide10.xml" Id="R4d7e4540fd404842" /><Relationship Type="http://schemas.openxmlformats.org/officeDocument/2006/relationships/slide" Target="/ppt/slides/slide11.xml" Id="Rc2181f3aecd34b99" /><Relationship Type="http://schemas.openxmlformats.org/officeDocument/2006/relationships/slide" Target="/ppt/slides/slide12.xml" Id="Re5e73a714e774c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a43ac647b344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04e68eebed4146" /><Relationship Type="http://schemas.openxmlformats.org/officeDocument/2006/relationships/notesMaster" Target="/ppt/notesMasters/notesMaster1.xml" Id="R6bfb5d0cca454a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f0a224fd364455" /><Relationship Type="http://schemas.openxmlformats.org/officeDocument/2006/relationships/notesMaster" Target="/ppt/notesMasters/notesMaster1.xml" Id="R2e0f9567e3e540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d09cc3af7a4330" /><Relationship Type="http://schemas.openxmlformats.org/officeDocument/2006/relationships/notesMaster" Target="/ppt/notesMasters/notesMaster1.xml" Id="R0488f52f422640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674beea3394b21" /><Relationship Type="http://schemas.openxmlformats.org/officeDocument/2006/relationships/notesMaster" Target="/ppt/notesMasters/notesMaster1.xml" Id="Rb0add4e19e9745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c83ab8cd2947e9" /><Relationship Type="http://schemas.openxmlformats.org/officeDocument/2006/relationships/notesMaster" Target="/ppt/notesMasters/notesMaster1.xml" Id="R10bf670c8bb841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0ce071e89842a6" /><Relationship Type="http://schemas.openxmlformats.org/officeDocument/2006/relationships/notesMaster" Target="/ppt/notesMasters/notesMaster1.xml" Id="R1be284a689324a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471e4122f0425c" /><Relationship Type="http://schemas.openxmlformats.org/officeDocument/2006/relationships/notesMaster" Target="/ppt/notesMasters/notesMaster1.xml" Id="R745d096a98a34a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73e1650c4e4412" /><Relationship Type="http://schemas.openxmlformats.org/officeDocument/2006/relationships/notesMaster" Target="/ppt/notesMasters/notesMaster1.xml" Id="R64fc5c94145942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b19208fd1c4508" /><Relationship Type="http://schemas.openxmlformats.org/officeDocument/2006/relationships/notesMaster" Target="/ppt/notesMasters/notesMaster1.xml" Id="R7fb0df907f7c49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ec2bd3b0fc14030" /><Relationship Type="http://schemas.openxmlformats.org/officeDocument/2006/relationships/notesMaster" Target="/ppt/notesMasters/notesMaster1.xml" Id="R6cd1e168c6cc4b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4e8f651c03408a" /><Relationship Type="http://schemas.openxmlformats.org/officeDocument/2006/relationships/notesMaster" Target="/ppt/notesMasters/notesMaster1.xml" Id="Rf65a5b3d3f724c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d1fdc87ceed455c" /><Relationship Type="http://schemas.openxmlformats.org/officeDocument/2006/relationships/notesMaster" Target="/ppt/notesMasters/notesMaster1.xml" Id="R7f0a511e2c894b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8e6fdc9c5546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2143d5747544ba" /><Relationship Type="http://schemas.openxmlformats.org/officeDocument/2006/relationships/slideLayout" Target="/ppt/slideLayouts/slideLayout1.xml" Id="R6f6a16f1458c4e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6a16f1458c4e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750796ae84f91" /><Relationship Type="http://schemas.openxmlformats.org/officeDocument/2006/relationships/notesSlide" Target="/ppt/notesSlides/notesSlide1.xml" Id="Rc7e1266be21049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3b463a9164884" /><Relationship Type="http://schemas.openxmlformats.org/officeDocument/2006/relationships/notesSlide" Target="/ppt/notesSlides/notesSlide2.xml" Id="Redb30b0e99904e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3a49375fc4a09" /><Relationship Type="http://schemas.openxmlformats.org/officeDocument/2006/relationships/notesSlide" Target="/ppt/notesSlides/notesSlide3.xml" Id="Rce51e896a7fb4e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3270fc3194bf9" /><Relationship Type="http://schemas.openxmlformats.org/officeDocument/2006/relationships/notesSlide" Target="/ppt/notesSlides/notesSlide4.xml" Id="Rb64fb86bb7ed47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5cfa3c47941e1" /><Relationship Type="http://schemas.openxmlformats.org/officeDocument/2006/relationships/notesSlide" Target="/ppt/notesSlides/notesSlide5.xml" Id="Rf4666c058dc54c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57e73450e4717" /><Relationship Type="http://schemas.openxmlformats.org/officeDocument/2006/relationships/notesSlide" Target="/ppt/notesSlides/notesSlide6.xml" Id="Rfcdb70e5928c4a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edc8325a54246" /><Relationship Type="http://schemas.openxmlformats.org/officeDocument/2006/relationships/notesSlide" Target="/ppt/notesSlides/notesSlide7.xml" Id="R8565c5bbc11f4f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8a9abcf5946a4" /><Relationship Type="http://schemas.openxmlformats.org/officeDocument/2006/relationships/notesSlide" Target="/ppt/notesSlides/notesSlide8.xml" Id="R3439a730b8e548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741e7a3774be5" /><Relationship Type="http://schemas.openxmlformats.org/officeDocument/2006/relationships/notesSlide" Target="/ppt/notesSlides/notesSlide9.xml" Id="Ra10da55e86ca4d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f0d4c2f654acc" /><Relationship Type="http://schemas.openxmlformats.org/officeDocument/2006/relationships/notesSlide" Target="/ppt/notesSlides/notesSlide10.xml" Id="R404ca655755d4f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675b88cfe4262" /><Relationship Type="http://schemas.openxmlformats.org/officeDocument/2006/relationships/notesSlide" Target="/ppt/notesSlides/notesSlide11.xml" Id="R189dd69d014649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06cdf10c0443c" /><Relationship Type="http://schemas.openxmlformats.org/officeDocument/2006/relationships/notesSlide" Target="/ppt/notesSlides/notesSlide12.xml" Id="Rbc148554d7b843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4C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E12B1E-C672-405A-801F-6AE4FE8B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Shopify Technical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97EC2-5E00-411C-9E1E-BAED8BF8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Shopify Collective</a:t>
            </a:r>
          </a:p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アーキテクチャ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C23B9-35AB-420D-8610-509F6757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architecture.mdをもとに、小売とサプライヤーの処理フローを要約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C644E-372C-4B1B-9110-79D5C6FC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626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8EEE6"/>
                </a:solidFill>
              </a:defRPr>
            </a:pPr>
            <a:r>
              <a:rPr sz="1050" b="0">
                <a:solidFill>
                  <a:srgbClr val="D8EEE6"/>
                </a:solidFill>
              </a:rPr>
              <a:t>非公式の補助資料です。内容は通知なく変更される可能性があります。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32AD8-7572-45A0-A903-813EB215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962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FDF4A"/>
                </a:solidFill>
              </a:defRPr>
            </a:pPr>
            <a:r>
              <a:rPr sz="1050" b="1">
                <a:solidFill>
                  <a:srgbClr val="2FDF4A"/>
                </a:solidFill>
              </a:rPr>
              <a:t>PPTX visualization</a:t>
            </a:r>
          </a:p>
        </p:txBody>
      </p:sp>
    </p:spTree>
    <p:extLst>
      <p:ext uri="{BB962C8B-B14F-4D97-AF65-F5344CB8AC3E}">
        <p14:creationId xmlns:p14="http://schemas.microsoft.com/office/powerpoint/2010/main" val="9858172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588304-2829-42DD-AA0F-DB872555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01 | システム境界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66736-7E30-4DB3-A93E-4C0E8BED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Collectiveはマーチャント間の処理をつなぐ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B8AEB-C5BA-4A0F-991B-06D66F7C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Supplierの商品、Retailerの販売、Collectiveの同期・注文ルーティングを分けて見ると理解しやすくなります。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50781-B01A-48C1-A0A8-25458DE7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B888B-4783-4FCD-AB28-EE13BEC3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Supplier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9C62C-C991-499C-809A-C54D4F65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商品を所有し、price list、cost price、supplier shippingを設定し、顧客へ直接フルフィルメントします。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A485C8-0AEC-4A6A-98A7-C70DC45A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4C3F"/>
                </a:solidFill>
              </a:defRPr>
            </a:pPr>
            <a:r>
              <a:rPr sz="1875" b="1">
                <a:solidFill>
                  <a:srgbClr val="004C3F"/>
                </a:solidFill>
              </a:rPr>
              <a:t>Shopify Collective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4E9D7E-503E-4DB9-9044-59DEA855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商品インポート、在庫とcost price同期、注文ルーティング、支払い記録の調整を担います。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D100E-5645-4019-AB7E-106F0FC2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Retailer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7F292-93D8-4B2F-A434-8A15BD68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商品をインポートして販売し、顧客接点を持ち、購入者向け価格や送料を設定します。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2DAD3-09C5-4D2F-9998-357F6C5D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DAF54-0428-4937-BBDF-66879397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64E42-E08C-47ED-A8B6-7A0D8E62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8697646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B7EC5-C831-4891-9738-37C0C144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02 | 商品共有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BE7B-AB2F-46B5-A7F3-A09D4D4E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商品共有はSupplierのprice listから始まる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5E050-6A9E-4028-BDF3-B505DDCD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商品はSupplierのShopifyストアに存在し、ACTIVEで、Collective Supplierチャネルに公開され、price listに含まれる必要があります。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94EE-48A8-47BA-85E8-AA33552D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6D0CD-3B43-4FE5-883D-BBCE9160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商品作成・同期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D6A8D-7157-4AD3-9355-F9E270AB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ERP/PIMを上流にしても、共有商品はShopifyに必要です。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5E903-AC92-492C-9A17-140596D0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59344-EE87-4CD4-8405-B218A303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ACTIVEで公開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155E5-1112-4606-B32D-5D650BBD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 Supplierチャネルへ商品を公開します。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AD902-BC2A-4C46-A68A-91DDFF87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B8CD09-379C-447D-BF8C-8949C3CF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Price list作成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EE72AF-10F3-4470-B331-E88C6DD1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商品、margin、cost price条件、送料を設定します。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F0F86C-C8D4-4B94-B614-1B0ACCA4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F1620-0DE8-4588-934D-ADDE5E0D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Retailerがimport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A0D622-B694-4CBA-8920-21DBB731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Collectiveタグ付き商品がRetailerストアに作成されます。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414EEC-FB9A-4A02-B76F-C08656F7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Price listはapp/adminで管理し、public APIでは作成しません。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B6FC57-FBB0-47E7-AAB4-7D35CC27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Open / closed accessでインポート可能な相手が変わります。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26353-7A4B-4B12-BCAE-42C0ECF4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商品情報は設定により継続同期できます。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FDAA5C-6D93-4221-B6CE-D9466DFE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37C8E0-13F7-48DB-BEDB-39C89B0D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D6C276-065F-4868-9141-5F12F343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13949268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701B70-117E-40BD-836F-BEFD06FE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03 | 在庫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1E44F-8775-441B-A193-BF5ECE6B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インポート商品はSupplier在庫を参照する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00AB5-FEB6-43CB-A6E4-59D9465B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Retailerの利用可能在庫はSupplier起点で反映され、Shopify checkoutでもSupplier在庫が確認されます。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8C8907-9126-413A-A16A-26E3D4FF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4EE2AC-BAB9-4793-ADB0-015F0A3F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Supplier在庫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D38C6-0502-4630-872F-79929024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sellableOnlineQuantityがRetailer在庫に反映されます。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003DC-BA2E-4F46-A1E5-E0D16B36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3D5F7-E234-4441-9087-A0C633BE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共有減算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DC84F2-E2E4-4AA3-85C4-E88D265C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Supplierまたは接続Retailerでの購入が在庫を減らします。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43B668-C88E-4C19-8A8E-CEF22506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D59DF-FE30-4891-80C9-2EEA03E7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伝播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881738-9534-4C74-81AE-F1E11A66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変更は接続ストアへ同期されます。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00D7FA-4986-45B0-A492-37E11E9E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64A4ED-8DE1-4494-845F-195A396B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Checkout確認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5CC0C-E854-4ABF-9840-55E9298C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Shopify checkoutがSupplier在庫を確認します。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64A20D-96AA-4212-98BF-45A36AF5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34F6A-1411-49C2-A29E-19F3EE15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手動例外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7D24B5-07F1-42A0-8E39-0A792F2F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手動注文作成にはcheckout保護が効きません。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BD802-2E6D-4BDD-842B-387C3903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伝播中の一時的な在庫差分はありえます。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638231-58D2-435C-AA57-DF3E5AFE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平均同期は30秒未満、最大5分かかる場合があります。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EBB644-D08A-48DD-B3D6-CF19A96E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Collective在庫設定の変更は同期を壊す可能性があります。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BB5694-9853-4171-A533-97E399B1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9E987B-4BBE-48AC-B52E-90131729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07E740-2FD1-4BD1-996F-94D22140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1602512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DAF1E0-2956-4126-A29A-C19DBFD9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04 | 価格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767B1-F5DB-4ABF-B60F-9E249A7A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Cost priceとretail priceは別の管理対象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9AD8B-D546-49C2-A447-E16A0651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Supplierへ支払うcost priceと、購入者に見せるretail price / discountを分けて考えます。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31FCD-4E3F-4F57-9224-0A8888EB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71C65-885D-4EFF-A441-1239ABBF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 cost price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13612-F6A6-4AFC-A9BE-58182B1B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Supplier price listから常時同期され、Retailerは編集できません。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A5C0F-37D9-40F4-9FB9-AF60E642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 retail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97E92-D782-4F6A-B209-10983F18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Retail price syncがONでなければ、購入者向け価格はRetailerが管理できます。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37F24-3661-460E-B8E2-EC0D60DA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0F6F3-748C-44C9-B5DF-0504DA1D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RetailerのディスカウントはRetailer利益を減らしますが、Supplier cost priceは変えません。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F6100-955B-44CB-9532-77878D93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0DECDB-7E85-43F6-B87C-F74AF948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1543C-FAFB-4C36-B1F4-28F524CF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12422030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F0C07D-5C9B-45F3-9792-7A3640E2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05 | 配送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57E4EC-C1B7-4896-B4B6-DE0228D5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配送には二つの経済レートがある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4ECCD5-A1BD-443D-84D7-35EA8071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購入者に請求する送料と、SupplierがRetailerへ請求する送料を分けてモデル化します。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8EA41-D9B4-4559-AAEC-092B7284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D296F-00DC-4199-8A00-9FCC25E9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SupplierがRetailerへ請求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160AB-C56C-4DF3-82F8-F2BF72DB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Supplier shipping ratesが、RetailerがSupplierへ支払う送料を決めます。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A24EA2-DF49-47D7-AB11-ACE0F4CD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Retailerが購入者へ請求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CA214-5DE2-4EA4-BCDE-13CD8490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標準profileではSupplierレートを返し、custom profileでは別の購入者向け送料を設定できます。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C6E0E7-C098-445E-80F6-9FC6FBA1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678878-B74C-48FE-9F37-230D317D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送料差益または送料補助はRetailer側の経済性として扱います。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514F9-DB97-44DF-B991-11953DC9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07C88-6636-43B2-9765-27FC9079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2B8764-A5D5-459E-83B7-194CF784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10013398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AA4350-7768-4AE3-A9D0-BFF6DC1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06 | 注文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E1FA8-9190-40EB-A676-0EDD44E7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Supplier注文は支払いと不正チェック後に作られる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EEFBB-A571-4E88-9ECB-4D0397C3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Retailer注文が先に作成され、その後CollectiveがSupplier注文とfulfillment orderをリンクします。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91D24-EEED-4A28-9B3A-76808963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4B0B6-0628-4AAB-A513-9B95DB7A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663C1-FB88-47FB-A28A-27E0B812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購入者がRetailerでcheckout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DB5607-3121-4A32-B540-F97CFA49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Retailer注文にShopify Collectiveタグが付きます。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3ECE2-B81D-40F7-9D5C-D0ACA270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8A4C77-C437-42C5-9321-12BEA5B5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6FBFAA-A952-4E84-8BE8-6B568E3F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Collectiveが約2分待つ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137C1-3780-4328-B60A-D1839FC0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支払いと不正チェックを行い、注文が保留でないことを確認します。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5D541-3D8A-4026-A622-D970BE59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101B23-6BD6-43ED-9ACA-FA04B788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E2B40-4ABB-4B9C-839C-E0E79515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Supplier注文を作成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379B5-5547-4813-B416-2762C252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Fulfillment requestを送り、Retailer fulfillmentとSupplier注文をリンクします。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6745A8-4999-4750-A2F6-54FA694F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B0289-605D-42BB-9783-0D5F79B5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439494-6453-4A60-9374-D6A2ADCE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Supplierが顧客へ出荷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F550B-AA56-4FC6-A9D0-35F5C5AD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SupplierはRetailerではなくエンド顧客へ直接フルフィルメントします。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41D7C3-D0F1-443F-A826-CE92EC11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8D82B0-D30D-4592-B3F7-0A683FD7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CCA14-7E7D-4101-BAD1-8F350B4D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状態をRetailerへ同期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E85410-C84C-4CCD-A59D-4D36DA9D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530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FulfillmentとtrackingがRetailer注文へ反映されます。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057C64-A857-496B-A8EF-81175049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2C7FBE-6B28-4C29-A54C-270FFFE5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728668-174C-4DA3-A449-10591BAB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3786787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2B872A-DC51-46C5-B829-B67CA610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07 | Automatic Payments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93C33-D887-4688-AA6A-03C03B90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支払いはフルフィルメントとadjustmentで照合する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3A1BF-254C-4343-BD58-62959D3F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自動支払いがONの場合、Retailer残高からdebitされ、Supplierフルフィルメント後にSupplier残高へcreditされます。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4275B2-1EDB-48DA-80A6-AD72E534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FA6B6-F25E-4BC8-A076-BBE78E4F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467D5-DC1E-42F0-BE64-390B1F85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Retailer注文が支払い済み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4B423-5326-4D75-8AA6-F228BB3C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Mark paidによりSupplier支払い用のdebitが発生する場合があります。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17486-1333-454A-AEE3-0C3F2181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6F388-8878-4CB8-9FD6-710C3773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9C3A9-9392-4C2D-A340-AFE5B827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Supplierがfulfill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47D67-6607-491B-81EE-E9FE4BBD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Supplier側のフルフィルメント後にSupplierへcreditされます。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8073F3-E34D-4C67-98A7-7856BDA1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969A91-21FA-4FB5-B1C9-628B5715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7EDAAE-BBAC-4076-BD23-7AEA8640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Adjustmentで記録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E248A-3F7C-4DE2-B3F0-509D3390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shopifyPaymentsAccount adjustmentsをassociated orderで確認できます。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D538BE-DD14-4FAE-B599-04DB3301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D1761-6A59-44BA-BA95-38C1F0D6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CEE0A4-E825-4E59-B732-037BEDAE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Payoutは一対一とは限らない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A5D5A5-8D19-4B66-B931-1EBF4EC6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返金、返品、reversal、税、送料、タイミング、残高の影響を受けます。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67C5BA-4456-496E-83D7-6ABA50D3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3C96A7-5B26-4B32-A50A-EFDA1AF3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5D6847-C216-4ECB-A63A-F0A35E4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6070589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4659B9-3093-4C6A-83AD-6AA97FAD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08 | 状態変更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9FAA5-92EB-4B32-A181-F2748A29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キャンセルと返品は状態で分岐する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687EF4-232F-469D-9CA9-5FAA54C8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支払い済みか、フルフィル済みか、Retailerの返品設定が何かによって処理が変わります。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C27284-5E5E-47E6-86CF-8928A42F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FB0B9-38AC-4E84-BC44-06E6C31E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011AF-AA27-4011-B9C3-B73D12D3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Retailer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86780-59BD-4C25-9BAF-291B254C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Supplier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A6773-24AA-4F0F-AA0E-F37CFA3B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Financial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599E9-AAB5-4A6B-AB05-EEBDADA6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未払いcancel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CC231-0D98-48A0-A36F-C33EFBE4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Cancellation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1306A-B1A8-476C-A8C5-9094C6D3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Collectiveが自動cancel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213DC-7A48-49B7-A46B-F07146F0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注文と返金状態を確認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23BA0-F773-471C-BDF7-55B5EF84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支払い済cancel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365D5-FF2A-447B-9A44-209BF9B3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Supplierへcancel 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168EE-8807-4209-B3CD-7B9E76BD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承認または拒否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D2847-ACA9-4741-83D5-352E8A68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Reversalとadjustment確認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0435DA-4E40-4153-B31D-A6BDBDC7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Supplier cancel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26676E-7922-48D3-9D65-17818D3D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Retailer注文が自動更新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CA32EC-83F3-40CE-962B-9C7CD910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Fulfillment前にcancel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C0E31-6438-4297-ADCE-068316DF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返金が自動の場合あり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8F13C9-E636-4985-946D-3AD91C35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Return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0A46BC-3C4F-4827-AB78-9EAC36BA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ラベル/返金方法を選択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D827C1-AAFB-4012-9722-1FB4F7D0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承認、ラベル、受領、返金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365EEC-3A66-4C8F-8AD7-C5F0F771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商品、送料、税を照合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6FE867-6A14-4AE6-903E-90C238D8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6B8145-CBF5-496C-BECC-46584B83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2DD55E-220D-4172-881F-35052CC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6187536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4C9AAA-1B98-4076-938F-8B7F182A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09 | FAQ: 商品と同期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3783D-9CDB-4BC4-A464-AB807607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商品系の疑問は管理元を分けると解ける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786E4-3E6C-4B5A-8EBE-F17381F9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Supplier管理フィールドとRetailerのbuyer-facing表示を分けます。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551304-2FF2-4B9C-BFF5-C5CFFDCD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A8911B-ABCA-4E6D-A6CB-C032B9CE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商品マスターはSupplier側必須?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BBC847-0EE5-4EFC-BEF6-F8792590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Collectiveで共有する商品はSupplierのShopifyストアに存在し、Collectiveへ公開される必要があります。上流はERP/PIMでも構いません。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4163E-AD52-46FA-A727-B506C5FF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Supplier変更時は?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B8E4E4-5519-442E-9E8A-C31CF044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在庫とcost priceは同期されます。その他の商品情報はproduct policyや同期設定に依存します。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3BFCB2-E485-4FE0-916D-6CDCE27A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Retailer変更時は?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7A4476-6853-436C-958C-9466962B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Retailer編集はSupplierの元商品を更新しません。Supplier管理フィールドはSupplier側が管理します。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E099C9-79CB-4580-8CB8-F56B449F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在庫は食い違う?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ECCC1-123B-4F0D-BBCA-0B2C3EF1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一時的にはありえます。Shopify checkoutはSupplier在庫を確認しますが、手動注文は例外です。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A169D9-6E66-47FF-B4A0-DD28AC9A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8AE88-5461-4CD6-A85A-25FD0D63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743661-8A24-496D-B347-0CD09575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17559003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517F51-42F7-4A3E-B127-CF618A9A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10 | FAQ: 金額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6E854-7906-4E76-8AD1-186A0C6B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金額系は注文とpayment adjustmentで照合する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00003-A312-40D1-8789-B118AFAE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購入者のcheckout総額だけでSupplier側の経済性を判断しないことが重要です。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2EC8E-089A-4ACD-9ACE-72B5D8FD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AFB08-97E4-41A4-BD4D-A23C128E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Supplier金額の決まり方は?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EEFE7-786E-4FDB-8DF5-1859D37A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Cost price、supplier shipping、税、order/payment adjustmentで決まります。顧客checkout総額そのものではありません。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01C71-D64D-459C-9736-A4565187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Retailer discount時は?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F867A-354F-4F30-BF6F-F1158AE2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顧客支払額が下がりRetailer利益が減ります。Supplier cost priceは変わりません。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627F6-4D39-457D-940D-CEF6A751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入金額と注文金額は一致?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D801D-4114-402E-8CEB-7CAE01C8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銀行入金として一対一とは限りません。複数支払い、返金、返品、reversal、税、送料、タイミングの影響を受けます。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EAFF8-0D50-405E-B5E7-29835D94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どこで照合する?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AEE5E-C82F-408F-8F72-997DD015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Supplier注文、Retailer注文notes/custom attributes、associated orderのShopify Payments adjustmentsを使います。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C83073-DAF5-4DF5-8D71-C80EDAAF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9AF91-EB1C-4132-9261-401288BF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AB04F-0196-4F7A-8290-6B00596F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5913504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DF722-5297-4BA8-9552-40BCC10D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11 | 利用上の注意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328A4-BFA8-4ECA-9C9C-C9EC24B3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このPPTXは公式資料ではなく、理解補助です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E1C13-7CD1-4CAB-A67E-D3576AB5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このリポジトリではMarkdownソースを正とします。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F1163D-4978-4924-9FED-7783988A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DD97E-D4C8-4307-8C03-8AEF60D4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143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4C3F"/>
                </a:solidFill>
              </a:defRPr>
            </a:pPr>
            <a:r>
              <a:rPr sz="1950" b="1">
                <a:solidFill>
                  <a:srgbClr val="004C3F"/>
                </a:solidFill>
              </a:rPr>
              <a:t>Source of truth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8C02F-06AF-46B9-A332-C5F25836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5760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01820"/>
                </a:solidFill>
              </a:defRPr>
            </a:pPr>
            <a:r>
              <a:rPr sz="1500" b="0">
                <a:solidFill>
                  <a:srgbClr val="101820"/>
                </a:solidFill>
              </a:rPr>
              <a:t>products/shopify-collective/architecture.md に英語ソースと参照リンクを保持します。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DF8FD-027B-49F7-9D5E-2E27B186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5143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6C9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D97706"/>
                </a:solidFill>
              </a:defRPr>
            </a:pPr>
            <a:r>
              <a:rPr sz="1950" b="1">
                <a:solidFill>
                  <a:srgbClr val="D97706"/>
                </a:solidFill>
              </a:rPr>
              <a:t>Disclaimer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037B0-0574-4AAA-9233-DC2FB378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5760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01820"/>
                </a:solidFill>
              </a:defRPr>
            </a:pPr>
            <a:r>
              <a:rPr sz="1500" b="0">
                <a:solidFill>
                  <a:srgbClr val="101820"/>
                </a:solidFill>
              </a:rPr>
              <a:t>Shopify公式ドキュメントではありません。実装判断はShopify docsとストア挙動で確認してください。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58A5AD-F3A0-44A0-9068-FD7FB50A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Source Markdownを変更したら、このPPTXも更新してください。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2E960-9F28-4649-8184-95F14278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FB51C7-FB01-48DC-911C-90C17E78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非公式資料 | Source: products/shopify-collective/architecture.md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66F48-D9F5-4F60-A32A-153FD564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1876637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2026-06-30T12:34:23.3300000Z</dcterms:created>
  <dcterms:modified xsi:type="dcterms:W3CDTF">2026-06-30T12:34:23.3300000Z</dcterms:modified>
</coreProperties>
</file>