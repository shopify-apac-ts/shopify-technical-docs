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2fa6d26c742d2" /><Relationship Type="http://schemas.openxmlformats.org/officeDocument/2006/relationships/extended-properties" Target="/docProps/app.xml" Id="R513fd0bcfab64a8b" /><Relationship Type="http://schemas.openxmlformats.org/officeDocument/2006/relationships/officeDocument" Target="/ppt/presentation.xml" Id="Re1b4e883405241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5e7ab5de654cfe"/>
  </p:sldMasterIdLst>
  <p:notesMasterIdLst>
    <p:notesMasterId xmlns:r="http://schemas.openxmlformats.org/officeDocument/2006/relationships" r:id="R38e856011e6c4ade"/>
  </p:notesMasterIdLst>
  <p:sldIdLst>
    <p:sldId xmlns:r="http://schemas.openxmlformats.org/officeDocument/2006/relationships" id="256" r:id="R31087cd61c12496e"/>
    <p:sldId xmlns:r="http://schemas.openxmlformats.org/officeDocument/2006/relationships" id="257" r:id="R199537638d194ec8"/>
    <p:sldId xmlns:r="http://schemas.openxmlformats.org/officeDocument/2006/relationships" id="258" r:id="R848216ab1ca94803"/>
    <p:sldId xmlns:r="http://schemas.openxmlformats.org/officeDocument/2006/relationships" id="259" r:id="R427164bfec2e45dd"/>
    <p:sldId xmlns:r="http://schemas.openxmlformats.org/officeDocument/2006/relationships" id="260" r:id="Rd4eed284b6ff4d88"/>
    <p:sldId xmlns:r="http://schemas.openxmlformats.org/officeDocument/2006/relationships" id="261" r:id="Rcb80f58969e841c4"/>
    <p:sldId xmlns:r="http://schemas.openxmlformats.org/officeDocument/2006/relationships" id="262" r:id="Rc16afd4f0c5b4fd5"/>
    <p:sldId xmlns:r="http://schemas.openxmlformats.org/officeDocument/2006/relationships" id="263" r:id="Rb19985502b074315"/>
    <p:sldId xmlns:r="http://schemas.openxmlformats.org/officeDocument/2006/relationships" id="264" r:id="Rcac2aa086212480d"/>
    <p:sldId xmlns:r="http://schemas.openxmlformats.org/officeDocument/2006/relationships" id="265" r:id="R93f24a344e3c463f"/>
    <p:sldId xmlns:r="http://schemas.openxmlformats.org/officeDocument/2006/relationships" id="266" r:id="R86a6fb96284049b6"/>
    <p:sldId xmlns:r="http://schemas.openxmlformats.org/officeDocument/2006/relationships" id="267" r:id="R7a037c20dbda4e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918b1b86e4a3f" /><Relationship Type="http://schemas.openxmlformats.org/officeDocument/2006/relationships/slideMaster" Target="/ppt/slideMasters/slideMaster1.xml" Id="R0c5e7ab5de654cfe" /><Relationship Type="http://schemas.openxmlformats.org/officeDocument/2006/relationships/notesMaster" Target="/ppt/notesMasters/notesMaster1.xml" Id="R38e856011e6c4ade" /><Relationship Type="http://schemas.openxmlformats.org/officeDocument/2006/relationships/presProps" Target="/ppt/presProps.xml" Id="R04f5582634994d3c" /><Relationship Type="http://schemas.openxmlformats.org/officeDocument/2006/relationships/tableStyles" Target="/ppt/tableStyles.xml" Id="R941dbdeb373348ce" /><Relationship Type="http://schemas.openxmlformats.org/officeDocument/2006/relationships/slide" Target="/ppt/slides/slide1.xml" Id="R31087cd61c12496e" /><Relationship Type="http://schemas.openxmlformats.org/officeDocument/2006/relationships/slide" Target="/ppt/slides/slide2.xml" Id="R199537638d194ec8" /><Relationship Type="http://schemas.openxmlformats.org/officeDocument/2006/relationships/slide" Target="/ppt/slides/slide3.xml" Id="R848216ab1ca94803" /><Relationship Type="http://schemas.openxmlformats.org/officeDocument/2006/relationships/slide" Target="/ppt/slides/slide4.xml" Id="R427164bfec2e45dd" /><Relationship Type="http://schemas.openxmlformats.org/officeDocument/2006/relationships/slide" Target="/ppt/slides/slide5.xml" Id="Rd4eed284b6ff4d88" /><Relationship Type="http://schemas.openxmlformats.org/officeDocument/2006/relationships/slide" Target="/ppt/slides/slide6.xml" Id="Rcb80f58969e841c4" /><Relationship Type="http://schemas.openxmlformats.org/officeDocument/2006/relationships/slide" Target="/ppt/slides/slide7.xml" Id="Rc16afd4f0c5b4fd5" /><Relationship Type="http://schemas.openxmlformats.org/officeDocument/2006/relationships/slide" Target="/ppt/slides/slide8.xml" Id="Rb19985502b074315" /><Relationship Type="http://schemas.openxmlformats.org/officeDocument/2006/relationships/slide" Target="/ppt/slides/slide9.xml" Id="Rcac2aa086212480d" /><Relationship Type="http://schemas.openxmlformats.org/officeDocument/2006/relationships/slide" Target="/ppt/slides/slide10.xml" Id="R93f24a344e3c463f" /><Relationship Type="http://schemas.openxmlformats.org/officeDocument/2006/relationships/slide" Target="/ppt/slides/slide11.xml" Id="R86a6fb96284049b6" /><Relationship Type="http://schemas.openxmlformats.org/officeDocument/2006/relationships/slide" Target="/ppt/slides/slide12.xml" Id="R7a037c20dbda4e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57608c7e3c47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7494ea9a284a9c" /><Relationship Type="http://schemas.openxmlformats.org/officeDocument/2006/relationships/notesMaster" Target="/ppt/notesMasters/notesMaster1.xml" Id="R754e75bb3b0240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3afac33169450d" /><Relationship Type="http://schemas.openxmlformats.org/officeDocument/2006/relationships/notesMaster" Target="/ppt/notesMasters/notesMaster1.xml" Id="R72627d27fb5e48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34b15e4574c5f" /><Relationship Type="http://schemas.openxmlformats.org/officeDocument/2006/relationships/notesMaster" Target="/ppt/notesMasters/notesMaster1.xml" Id="R6452ac46f3d24a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e6fbe99d8f4bf5" /><Relationship Type="http://schemas.openxmlformats.org/officeDocument/2006/relationships/notesMaster" Target="/ppt/notesMasters/notesMaster1.xml" Id="R8eb84f37036e43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c8e671e0cf4faf" /><Relationship Type="http://schemas.openxmlformats.org/officeDocument/2006/relationships/notesMaster" Target="/ppt/notesMasters/notesMaster1.xml" Id="Rc4cf68815d1345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8d796d51734501" /><Relationship Type="http://schemas.openxmlformats.org/officeDocument/2006/relationships/notesMaster" Target="/ppt/notesMasters/notesMaster1.xml" Id="Re567cb97d5c249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ac8a277edc424f" /><Relationship Type="http://schemas.openxmlformats.org/officeDocument/2006/relationships/notesMaster" Target="/ppt/notesMasters/notesMaster1.xml" Id="Rc03161941d2c4e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6bf30d09b44605" /><Relationship Type="http://schemas.openxmlformats.org/officeDocument/2006/relationships/notesMaster" Target="/ppt/notesMasters/notesMaster1.xml" Id="Rcac5672b6e5541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4c9f7dcc4140e3" /><Relationship Type="http://schemas.openxmlformats.org/officeDocument/2006/relationships/notesMaster" Target="/ppt/notesMasters/notesMaster1.xml" Id="R27d3b28d14b346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3aae2779fa43c2" /><Relationship Type="http://schemas.openxmlformats.org/officeDocument/2006/relationships/notesMaster" Target="/ppt/notesMasters/notesMaster1.xml" Id="R8a86f012131844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745016f58a45df" /><Relationship Type="http://schemas.openxmlformats.org/officeDocument/2006/relationships/notesMaster" Target="/ppt/notesMasters/notesMaster1.xml" Id="Rc3ad85547cfa4e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86fa763d6148a6" /><Relationship Type="http://schemas.openxmlformats.org/officeDocument/2006/relationships/notesMaster" Target="/ppt/notesMasters/notesMaster1.xml" Id="Rc6c75c5833e5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7055acdee45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4edfb7918f442f" /><Relationship Type="http://schemas.openxmlformats.org/officeDocument/2006/relationships/slideLayout" Target="/ppt/slideLayouts/slideLayout1.xml" Id="R5bec867529c341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ec867529c341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f192451d3491b" /><Relationship Type="http://schemas.openxmlformats.org/officeDocument/2006/relationships/notesSlide" Target="/ppt/notesSlides/notesSlide1.xml" Id="Rac510539b3a5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bae98e1254518" /><Relationship Type="http://schemas.openxmlformats.org/officeDocument/2006/relationships/notesSlide" Target="/ppt/notesSlides/notesSlide2.xml" Id="R00726210da734e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7b6389de744f8" /><Relationship Type="http://schemas.openxmlformats.org/officeDocument/2006/relationships/notesSlide" Target="/ppt/notesSlides/notesSlide3.xml" Id="R1db386f2b0cb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f122ffdeb4c18" /><Relationship Type="http://schemas.openxmlformats.org/officeDocument/2006/relationships/notesSlide" Target="/ppt/notesSlides/notesSlide4.xml" Id="Rb3f1655d49ff43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ae3dc240442b3" /><Relationship Type="http://schemas.openxmlformats.org/officeDocument/2006/relationships/notesSlide" Target="/ppt/notesSlides/notesSlide5.xml" Id="Rd127cb3ef98d4d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814297c7b4601" /><Relationship Type="http://schemas.openxmlformats.org/officeDocument/2006/relationships/notesSlide" Target="/ppt/notesSlides/notesSlide6.xml" Id="R6354f85cc4494f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f3a83ce3430d" /><Relationship Type="http://schemas.openxmlformats.org/officeDocument/2006/relationships/notesSlide" Target="/ppt/notesSlides/notesSlide7.xml" Id="Rb9be22300ec6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e8ecb69ec4ce7" /><Relationship Type="http://schemas.openxmlformats.org/officeDocument/2006/relationships/notesSlide" Target="/ppt/notesSlides/notesSlide8.xml" Id="R7d4ffd378b3d41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0630989d247e7" /><Relationship Type="http://schemas.openxmlformats.org/officeDocument/2006/relationships/notesSlide" Target="/ppt/notesSlides/notesSlide9.xml" Id="R89b0853fa0b045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6f59107814eb0" /><Relationship Type="http://schemas.openxmlformats.org/officeDocument/2006/relationships/notesSlide" Target="/ppt/notesSlides/notesSlide10.xml" Id="Re5078379cb1142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8b29e3ed44c91" /><Relationship Type="http://schemas.openxmlformats.org/officeDocument/2006/relationships/notesSlide" Target="/ppt/notesSlides/notesSlide11.xml" Id="R35428c807f6647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fdcd583194836" /><Relationship Type="http://schemas.openxmlformats.org/officeDocument/2006/relationships/notesSlide" Target="/ppt/notesSlides/notesSlide12.xml" Id="R6c03af361c4f47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4C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33C3B-8E98-4469-8D7F-967814A4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Shopify Technical Docs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7FD83-73E5-4D71-95C9-0E2B12B5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906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2FDF4A"/>
                </a:solidFill>
              </a:defRPr>
            </a:pPr>
            <a:r>
              <a:rPr sz="7200" b="1">
                <a:solidFill>
                  <a:srgbClr val="2FDF4A"/>
                </a:solidFill>
              </a:rPr>
              <a:t>Shopify Collective</a:t>
            </a:r>
          </a:p>
          <a:p xmlns:a="http://schemas.openxmlformats.org/drawingml/2006/main">
            <a:pPr algn="l">
              <a:defRPr sz="7200" b="1">
                <a:solidFill>
                  <a:srgbClr val="2FDF4A"/>
                </a:solidFill>
              </a:defRPr>
            </a:pPr>
            <a:r>
              <a:rPr sz="7200" b="1">
                <a:solidFill>
                  <a:srgbClr val="2FDF4A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DC742-65D4-4B96-801C-C436D951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Retailer and supplier workflows summarized from architecture.md.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0D491-5797-4D95-A37C-224400B3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EE6"/>
                </a:solidFill>
              </a:defRPr>
            </a:pPr>
            <a:r>
              <a:rPr sz="1050" b="0">
                <a:solidFill>
                  <a:srgbClr val="D8EEE6"/>
                </a:solidFill>
              </a:rPr>
              <a:t>Unofficial supplemental material. Content may change without notice.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9EC8C-9DDC-420D-9DA0-CA2D308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962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DF4A"/>
                </a:solidFill>
              </a:defRPr>
            </a:pPr>
            <a:r>
              <a:rPr sz="1050" b="1">
                <a:solidFill>
                  <a:srgbClr val="2FDF4A"/>
                </a:solidFill>
              </a:rPr>
              <a:t>PPTX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711410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BF8480-F2E0-4794-918E-DDA9E0FC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01 | System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8C1B0-7047-493A-B8BB-45795F15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Collective coordinates a merchant-facing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25A63-7FCA-402A-BA7B-FCD852A2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The architecture is best understood as a relationship between supplier source products, retailer storefronts, and Collective orchestration.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93F5E-6F4C-46D4-97AF-B568CD92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08F7A-B29E-453A-BA38-76274B3A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956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Supplier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9B7D1-26FE-49E1-A32E-49A9F6EB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3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Owns products, shares price lists, sets cost price and supplier shipping, and fulfills directly to the customer.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8C04E-B0DF-4659-BFA6-8F4A573B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32956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6DF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4C3F"/>
                </a:solidFill>
              </a:defRPr>
            </a:pPr>
            <a:r>
              <a:rPr sz="1875" b="1">
                <a:solidFill>
                  <a:srgbClr val="004C3F"/>
                </a:solidFill>
              </a:rPr>
              <a:t>Shopify Collective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7F5B7-3976-4357-9561-D74EC89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283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Imports products, keeps supplier-backed inventory and cost price aligned, routes orders, and coordinates payment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6ADE5-2C9D-41BE-8FDB-3CD2CDFF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2956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Retailer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B6480-F16A-446F-86C9-701B16D7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283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Imports products, sells to the buyer, controls the customer relationship, and manages buyer-facing pricing or shipping where allowed.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E9017-1293-4911-A59A-33AC0196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B3EBE-6412-4E2F-A44B-82F6B45E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3D94A-3559-466E-A565-9DA2CC7F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774876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542AC-B252-4E74-B6D1-A9569AAA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02 | Product sharing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8293D-15F8-4FA7-95DD-473BF6E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Product sharing starts with supplier price lists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D570F-46ED-4E12-98E8-591EA2BF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Supplier products must exist in Shopify, be active, be published to the Collective Supplier channel, and be added to a price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489C2-9295-4DA7-AB70-A8DB5CF3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FBF0-A2BD-4EBA-9366-EAF7866A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Create or sync products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1A1BA-0ECE-46AA-8E09-0D62CB5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ERP/PIM can be upstream, but Shopify holds the shared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2658E-F1FA-4599-B27E-AE8BD3DD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F97DD-62D1-4045-8902-773E62BE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Publish active 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D43C-63E5-44E8-B41E-6548D44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Products are published to the Collective Supplier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44DE1-E838-4335-B867-0741563A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5280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C9FC6-F169-45A0-9929-22A52862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Create price 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94968-9CD3-439D-AB1B-AC321049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Supplier sets products, margin, cost price terms, and shipping.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28DD9-95B3-4B05-9CFB-19E312BB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664E5-D776-4981-912A-551425D9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C3F"/>
                </a:solidFill>
              </a:defRPr>
            </a:pPr>
            <a:r>
              <a:rPr sz="1425" b="1">
                <a:solidFill>
                  <a:srgbClr val="004C3F"/>
                </a:solidFill>
              </a:rPr>
              <a:t>Retailer imports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A01D4-970C-45D0-AB8E-DFBE06B9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Collective creates retailer products with Collective tags.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C2016-8D56-4FAE-A4EE-DD4BB03C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Price lists are managed in the app/admin, not through the public API.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69606-C104-4E81-8021-C827B7F0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Open and closed access determine who can import.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7372B-054A-490B-AFE8-3828B36A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Imported product content can be optionally kept in sync.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F4C73-B591-418B-B458-C5CFCBE9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34E89-BB8B-47A6-BBE8-FD6EF731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1383F-0606-43D9-AB8E-56F4C08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7036645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F9253-ABB9-4489-851E-FD5C5D8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03 |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5A042-521C-484D-8E3F-71C8E09B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Imported products use supplier-backed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995D1-A03C-4ED4-922D-836346BC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Inventory availability comes from the supplier and is checked again during Shopify checkout.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8924E-127E-4D94-B674-3F5E9D73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64D60-82AA-4782-ADD5-F8B4FB6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Supplier quantity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A8FE-10F2-4E8A-B58E-F499ED64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sellableOnlineQuantity populates retailer availability.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27343-0A73-44B1-93BC-7F3A3D03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055F0-0EE1-4C06-ACD1-986F1B0E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Shared decrease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62E85-4622-4E1C-9453-3F6990B1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Purchases on supplier or connected retailer stores reduce quantity.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51D76-7C78-411F-B4B6-ECBF30A9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54EE4-A18A-4747-9E14-FDDCEAEA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Propagation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AB03A-9CBF-4332-AC10-4CA522EA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Changes sync across connected stores.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CD0EF-2E35-4F86-AB72-B8F82E58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9DED1-71C9-4B9F-AFEB-8BD1B3E3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Checkout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D8DA3-4B21-4E32-93B7-80CFEA1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Shopify checkout checks supplier inventory.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0F5D8-0568-4DF9-BC87-FC09CBDB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E1047-DCCD-4EC3-9F29-0F908D58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C3F"/>
                </a:solidFill>
              </a:defRPr>
            </a:pPr>
            <a:r>
              <a:rPr sz="1425" b="1">
                <a:solidFill>
                  <a:srgbClr val="004C3F"/>
                </a:solidFill>
              </a:rPr>
              <a:t>Manual exception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ADE52-AB81-4A43-B1B9-CE1699E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Manual order insertion is not protected by that checkout guard.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73B0A-301A-422C-A38D-0D7A5F60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Temporary divergence can happen during propagation.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5FC377-4729-4897-A765-9FA2C5B6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Merchant guidance: average sync under 30 seconds, up to 5 minutes.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4E158-5EF6-4A9B-B589-E4AD0681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Changing Collective inventory setup can break expected sync.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1169B-48D6-4159-B55C-7786FF47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CF3CA-36B1-48AE-B309-D7893DD9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5407A-51DB-42DD-81DB-B29C7052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919689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93AC65-720B-4F23-9F83-25BF03F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04 | 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C4100-24BF-4E99-89C2-364E6C21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Cost price and retail price are separate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49838-F5EB-4D31-9EA1-832D38A4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The supplier cost price drives what the retailer owes. Retailer-facing price and discounts drive buyer charge and retailer profit.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29AFB-2CBC-4938-A77D-6738E009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89CB4-078B-48BA-A880-5D1BE436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6DF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4C3F"/>
                </a:solidFill>
              </a:defRPr>
            </a:pPr>
            <a:r>
              <a:rPr sz="2025" b="1">
                <a:solidFill>
                  <a:srgbClr val="004C3F"/>
                </a:solidFill>
              </a:rPr>
              <a:t>Supplier cost 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AF7BC-E5DC-4263-99DD-83750E79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Always synced from supplier price list and not editable by the retailer.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5C800-F701-4392-8AB0-B66B0C96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Retailer retail price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32C2A-D6C9-4D36-8936-3E553DEA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Buyer-facing price can be retailer-managed unless retail price sync is enabled.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D20B9-A0A4-438D-8198-E5255EBF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14750"/>
            <a:ext cx="66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97706"/>
                </a:solidFill>
              </a:defRPr>
            </a:pPr>
            <a:r>
              <a:rPr sz="4350" b="1">
                <a:solidFill>
                  <a:srgbClr val="D97706"/>
                </a:solidFill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25C4A-15F9-4914-8927-662D676B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Retailer discounts reduce retailer profit, but do not change supplier cost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810FC-3D4D-45C5-AC98-40C784BD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C95B9-6057-4AC1-9372-FF76F0F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D12F46-E98F-43CB-AC73-F41B9092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778235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6C808-FC04-44DB-A340-B4D467C8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05 | Shipping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803A0-6D2B-4767-A47F-0DD14F91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Shipping has two economic 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9DD7A-6FF8-4D0E-AEF9-872824F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Retailer-buyer shipping and supplier-retailer shipping must be modeled separately.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8923A-C81A-4340-B969-0754F1C9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B7B59-AABD-4A2A-9012-670751ED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6DF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4C3F"/>
                </a:solidFill>
              </a:defRPr>
            </a:pPr>
            <a:r>
              <a:rPr sz="2025" b="1">
                <a:solidFill>
                  <a:srgbClr val="004C3F"/>
                </a:solidFill>
              </a:rPr>
              <a:t>Supplier charges retailer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71020-9187-4834-A596-213383C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Supplier shipping rates define what the retailer pays the supplier for fulfillment.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8069D-D508-486E-9CF7-D41E0C21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Retailer charges buyer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1D71D-7BA2-448E-9304-08EECAC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Default Collective profile can mirror supplier rates; custom profiles can charge a different buyer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B305-21F7-4DDD-BAE4-66252B79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14750"/>
            <a:ext cx="66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97706"/>
                </a:solidFill>
              </a:defRPr>
            </a:pPr>
            <a:r>
              <a:rPr sz="4350" b="1">
                <a:solidFill>
                  <a:srgbClr val="D97706"/>
                </a:solidFill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86033-9CF8-45F2-AC16-409BC7D8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Shipping margin or subsidy belongs in retailer economics, not supplier cost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F213B-AB19-46F7-975A-0C61A7EA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B5B41-6D5D-46CB-8032-25A544C9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BF25C-CBC4-4643-B90C-CE252C70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495922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940B6-E8D6-46DF-A661-532F98C7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06 | Orders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0941F-8CFA-4AC2-BE01-53D5095A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Supplier orders appear after payment and fraud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3C389-59D4-4889-98C4-3ABAE63D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The retailer order is created first. Collective then links fulfillment to the supplier order after payment checks pass.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7756C-91C5-4670-895A-5413667A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C2DED-E5AF-4650-A0C0-C9898105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594AA-34DC-4467-8CB9-890038A0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Buyer checks out on retailer 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68768-0E97-49C3-BA92-C8C5826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The retailer order is created with the Shopify Collective tag.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7E084-DB4E-4A69-A85D-8753124C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F2975-CB7C-4B78-B308-7950C07E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1BD8A-9DC6-4588-8DD1-0D12C970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Collective waits about 2 minutes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2BFDD-18E9-4427-8697-F5CE0C8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Payment and fraud checks complete, and the order must not be on 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98BC8-CC2C-47F6-B69C-6E08C7B0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A94BC-A93C-4502-A031-225CA1B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9AFB7-3063-46EB-A0F5-90B23A9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Supplier order is created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0BAB6-5AE9-4BE5-98D1-9F4CBBAC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Collective sends the fulfillment request and links retailer fulfillment to supplier order.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26B9D-DBBC-4DC1-B29F-EA6610B7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1591E-7054-40E0-B378-078D1B06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E133F-46E8-4008-B263-1ECC6C4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Supplier fulfills to customer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9674F-8E5B-4F01-A9A2-44758903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Supplier fulfills directly to the end customer, not to the retailer.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BF82E4-D440-4012-AE74-5A42B450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E8731-A7D0-4DC0-8480-8DF06707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17D6B-F41C-49C9-B4EA-DA90A6DF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Fulfillment syncs 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8C87F6-3424-4569-9B87-F71509B9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Retailer order receives fulfillment and tracking updates.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1B7BB-9032-46C3-8544-BCEF93BA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5BA010-3290-436A-959B-D5CBB613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BB0E43-CBB9-43E8-A6A6-5B0429A6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486083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637E30-2000-420D-B73E-B00532F7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07 | Automatic payments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2D58A-1113-467B-AF39-F2A9C43C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Automatic payments follow fulfillment and adjustments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0D19B-DE9D-4D2B-8D53-FF281C9E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When enabled, Collective debits retailer Shopify Payments and credits supplier Shopify Payments, but reconciliation should use payment adjustments.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76E61-6509-4C75-B885-14277FCB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8CA0C-66F9-422E-9AF2-20C5CF8F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6212A-329D-4DA9-BCD3-8CAFCC5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Retailer order is paid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6EDE3-F8B0-4E9D-A83E-DE25E0A9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Marking paid can trigger a debit for supplier funds.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893BC-929A-40CF-BCF9-9D07B4BB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D64A4-21BC-4EC6-9886-85410DA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9EF98-6E3C-432B-8441-823AD32E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Supplier fulfills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F3E4F-67F3-4AF4-938C-1281163F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Supplier payment is credited after supplier-side fulfillment.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5F5F7-06D9-4DE4-B58E-085E067F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E7D626-8619-44EA-8568-5552D7F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BC77E-9351-4F5E-9BA2-1A3C21D3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Adjustments record the movement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FB714-21BC-4F1D-87D0-007718E9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shopifyPaymentsAccount adjustments can be queried for the associated order.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FDEC3-078A-43D3-B43E-96F6FA7A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05815-732F-4B5A-A05D-BFCE28A8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67524-E251-4EAD-AA86-2115F9F9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Payout is not always one-to-one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EBB7A-8717-49FB-B973-75E0369D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Payouts can aggregate payments and reflect refunds, returns, reversals, taxes, and timing.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95FE8-B814-4DE0-9104-9BC328D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3417F-C868-419C-A85D-66E97BF6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7E14AF-69AB-457B-AEA1-623E6185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125022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3DA28C-B4DD-4D05-ACDE-05DDBF53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08 | State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C0D4F-3D32-425B-97F6-582020F3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Cancellations and returns branch by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32844-5E37-483E-95B0-EA217454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The next action depends on whether the order is paid, fulfilled, and which return handling option is selected.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96732-5EBE-4542-9568-5CECE3FD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E0094-D1CF-4F9C-B6F7-D41D8819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CC43D-3864-4892-A4D6-0FB89DF2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Retailer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68320-01E0-4A16-88D3-46DE5F45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Supplier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6AE7F-CEDE-4068-8976-CCD0C882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Financial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16F1D-9623-4B38-AA07-946BBB87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Cancel unpaid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E0FC-716A-4C59-8EDF-FC4D55CE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Submit cancellation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040DB-C96E-44B4-8516-FAACAC6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Collective cancels automatically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9286E-9F4C-4D09-A1D4-5ECAE8A7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Confirm order and refund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32923-2624-4CBD-8830-3BAD85AF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Cancel paid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0D907-ED1E-4AF7-A47F-403835C8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Request supplier cancellation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7ED0E-2F03-4A8A-9D82-6C0F1A40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Supplier accepts or rejects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EEE99-7B7F-40A5-ACF2-A44AE20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Check reversals and adjustments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65B1C-86C6-47B7-A385-A2F6299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Supplier cancels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2919B-AFEC-4912-A78C-4FA3EF1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Retailer order updates automatically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FE027-AF9E-4C0E-9397-C22A1ED1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Cancel before fulfillment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3E953-3F8C-4FA5-9D9E-11633963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Refund can happen automatically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882D9-2C90-4DA2-8665-3AF3CA6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0FC29-B61C-41F3-8193-6878778F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Choose label/refund option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59F7B-4C5E-4930-8D62-36D4AB6F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Approve, label, receive, refund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FBAFD-3617-4939-8CA8-D79A841C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Reconcile item, shipping, tax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51ABB7-4BD7-4CD2-ACBE-CC9C3E71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A54498-EAB7-4818-9F8F-D1C46C23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67C9C-B85A-4BA3-81D0-2A4AAF6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764681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35091B-672C-470A-A0D4-F4B0AFB8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09 | FAQ: product and sync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542C2-106B-4A33-8CE9-4DF4EC3C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Operational questions have clear source-of-truth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FB45E-EB48-462C-B36B-ACF701F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Most product questions resolve by separating supplier-managed fields from retailer-facing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80F8B-DC10-4609-953C-68BA3ABF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B1C86-1671-426C-80B5-6CFC4937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Must product master data live on supplier side?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E0E09-BE34-4B23-A079-0AE65937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The product must exist in the supplier Shopify store and be published to Collective; upstream master data can still live in ERP or PIM.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A3B07-939E-4009-BC83-3303E4ED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What if supplier changes product data?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11909-992D-4B80-B880-37EF44C5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Inventory and cost price sync. Other content fields can sync depending on product policy and settings.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9BF0F-BBF3-4BFF-A7CA-CA27A9CE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What if retailer changes product data?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DE92C-631A-4DF7-92D0-C4310B0F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Retailer edits do not update supplier source data. Supplier-managed fields remain supplier-controlled.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75A4C-F676-45E4-855C-DB2634E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Can inventory diverge?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52869-74D2-4C09-A61B-656D62A4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Temporarily, yes. Sync can lag, but Shopify checkout checks supplier inventory. Manual orders are an exception.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33E4F-5E8C-4744-BAC6-416E813A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4D336-2A7F-4BDC-9308-C78DA0B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31752-1D01-4637-BB80-3379F63B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4405423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B4630A-3A2F-485C-B275-65A59014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10 | FAQ: money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7B7B6-A2FB-49EB-8FEE-BB031231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Money questions require order and payment adjustment reconciliation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D71A4-2A93-4D28-A9A4-F4B1E67E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Do not infer supplier economics only from the buyer checkout total.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AB485-1B1B-4D88-BF48-43EA8C7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FAE56-78EA-4852-A310-748A427E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How is supplier amount determined?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2A1CF-D4D3-4CDF-A3CB-6353154D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Use cost price, supplier shipping, taxes, and order/payment adjustments, not the full customer checkout total.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D012D-5227-4684-8B4A-944B9781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What if retailer discounts the order?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AAD60-E24D-4D70-936E-EFF667E1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The customer pays less and retailer profit decreases. Supplier cost price does not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3161A-502E-4EBC-AD04-FE364AB4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Does supplier payout equal supplier order amount?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934E4-F748-4FAC-A23C-E8C02AD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Not always one-to-one. Payouts can aggregate payments and reflect returns, refunds, reversals, shipping, tax, timing, and balance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365D1-845D-457B-8647-A311206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Where should integrations reconcile?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DCD40-5A6F-4EF9-BCFA-44741B62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Use supplier order, retailer order notes/custom attributes, and Shopify Payments adjustments for the associated order.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D9E24-B957-4B58-AF86-C60BD546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ABFBC-4C8D-487C-9B0E-30F73FDB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E405C-04FE-452E-9E95-56F47CA9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9025695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D6A32-1067-402F-BB11-0E21BC06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11 | Use safely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22B3E-5179-427E-9B25-99496DB0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Use the deck as a reading companion, not as official documentation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090DE-3FE8-4E99-9088-2077AE47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The Markdown source remains the canonical file in this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F084D-9D76-45CD-9F4A-7BD28CF5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E0B94-2FDF-40E5-8A0C-DC3C0CEB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143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6DF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4C3F"/>
                </a:solidFill>
              </a:defRPr>
            </a:pPr>
            <a:r>
              <a:rPr sz="1950" b="1">
                <a:solidFill>
                  <a:srgbClr val="004C3F"/>
                </a:solidFill>
              </a:rPr>
              <a:t>Source of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12DE8-7DFC-4889-8380-9C4DDA28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products/shopify-collective/architecture.md holds the maintained English source and reference links.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5F894-CF6E-44ED-9D7D-E04D56D0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5143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6C97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</a:defRPr>
            </a:pPr>
            <a:r>
              <a:rPr sz="1950" b="1">
                <a:solidFill>
                  <a:srgbClr val="D97706"/>
                </a:solidFill>
              </a:rPr>
              <a:t>Disclaimer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DB6D-D15F-497C-8932-7140BFFB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0"/>
                </a:solidFill>
              </a:defRPr>
            </a:pPr>
            <a:r>
              <a:rPr sz="1500" b="0">
                <a:solidFill>
                  <a:srgbClr val="101820"/>
                </a:solidFill>
              </a:rPr>
              <a:t>This is not official Shopify documentation. Validate implementation decisions against Shopify docs and store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1683C-29E3-4A3D-9732-20658D9D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Update this PPTX whenever the source Markdown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39CC2A-937E-44EA-8F97-FD224E0C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987FA-DCCB-4DDB-8106-CF8E0201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Unofficial material | Source: products/shopify-collective/architecture.md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BD613-EDF2-4ACE-BFF1-693CED06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478840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2026-06-30T12:34:22.7720000Z</dcterms:created>
  <dcterms:modified xsi:type="dcterms:W3CDTF">2026-06-30T12:34:22.7720000Z</dcterms:modified>
</coreProperties>
</file>