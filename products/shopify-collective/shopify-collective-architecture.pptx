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5b85f5f5554c12" /><Relationship Type="http://schemas.openxmlformats.org/officeDocument/2006/relationships/extended-properties" Target="/docProps/app.xml" Id="Rf66dca13b1ac4420" /><Relationship Type="http://schemas.openxmlformats.org/officeDocument/2006/relationships/officeDocument" Target="/ppt/presentation.xml" Id="R4e1a7bf8bbb641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944e5c7a8045be"/>
  </p:sldMasterIdLst>
  <p:notesMasterIdLst>
    <p:notesMasterId xmlns:r="http://schemas.openxmlformats.org/officeDocument/2006/relationships" r:id="R6a1ea0c9aeef4755"/>
  </p:notesMasterIdLst>
  <p:sldIdLst>
    <p:sldId xmlns:r="http://schemas.openxmlformats.org/officeDocument/2006/relationships" id="256" r:id="Rd8eceb12717041c7"/>
    <p:sldId xmlns:r="http://schemas.openxmlformats.org/officeDocument/2006/relationships" id="257" r:id="Rc4a9c78852b94e84"/>
    <p:sldId xmlns:r="http://schemas.openxmlformats.org/officeDocument/2006/relationships" id="258" r:id="R6ce44563c81e4883"/>
    <p:sldId xmlns:r="http://schemas.openxmlformats.org/officeDocument/2006/relationships" id="259" r:id="Rea29527003554e10"/>
    <p:sldId xmlns:r="http://schemas.openxmlformats.org/officeDocument/2006/relationships" id="260" r:id="R0ad95ac5d2a04c7e"/>
    <p:sldId xmlns:r="http://schemas.openxmlformats.org/officeDocument/2006/relationships" id="261" r:id="R35ec0a5e954f4127"/>
    <p:sldId xmlns:r="http://schemas.openxmlformats.org/officeDocument/2006/relationships" id="262" r:id="R80638544a590418c"/>
    <p:sldId xmlns:r="http://schemas.openxmlformats.org/officeDocument/2006/relationships" id="263" r:id="R2d57766b9d95409c"/>
    <p:sldId xmlns:r="http://schemas.openxmlformats.org/officeDocument/2006/relationships" id="264" r:id="R5036fe157827464d"/>
    <p:sldId xmlns:r="http://schemas.openxmlformats.org/officeDocument/2006/relationships" id="265" r:id="R0b2f4c89b79c4a27"/>
    <p:sldId xmlns:r="http://schemas.openxmlformats.org/officeDocument/2006/relationships" id="266" r:id="R5a73d4b3bb4f4949"/>
    <p:sldId xmlns:r="http://schemas.openxmlformats.org/officeDocument/2006/relationships" id="267" r:id="R472418ad34d24ac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c94544d5d24c20" /><Relationship Type="http://schemas.openxmlformats.org/officeDocument/2006/relationships/slideMaster" Target="/ppt/slideMasters/slideMaster1.xml" Id="R51944e5c7a8045be" /><Relationship Type="http://schemas.openxmlformats.org/officeDocument/2006/relationships/notesMaster" Target="/ppt/notesMasters/notesMaster1.xml" Id="R6a1ea0c9aeef4755" /><Relationship Type="http://schemas.openxmlformats.org/officeDocument/2006/relationships/presProps" Target="/ppt/presProps.xml" Id="Rcfea8d694d2e4358" /><Relationship Type="http://schemas.openxmlformats.org/officeDocument/2006/relationships/tableStyles" Target="/ppt/tableStyles.xml" Id="R7a2d0c129d2c4217" /><Relationship Type="http://schemas.openxmlformats.org/officeDocument/2006/relationships/slide" Target="/ppt/slides/slide1.xml" Id="Rd8eceb12717041c7" /><Relationship Type="http://schemas.openxmlformats.org/officeDocument/2006/relationships/slide" Target="/ppt/slides/slide2.xml" Id="Rc4a9c78852b94e84" /><Relationship Type="http://schemas.openxmlformats.org/officeDocument/2006/relationships/slide" Target="/ppt/slides/slide3.xml" Id="R6ce44563c81e4883" /><Relationship Type="http://schemas.openxmlformats.org/officeDocument/2006/relationships/slide" Target="/ppt/slides/slide4.xml" Id="Rea29527003554e10" /><Relationship Type="http://schemas.openxmlformats.org/officeDocument/2006/relationships/slide" Target="/ppt/slides/slide5.xml" Id="R0ad95ac5d2a04c7e" /><Relationship Type="http://schemas.openxmlformats.org/officeDocument/2006/relationships/slide" Target="/ppt/slides/slide6.xml" Id="R35ec0a5e954f4127" /><Relationship Type="http://schemas.openxmlformats.org/officeDocument/2006/relationships/slide" Target="/ppt/slides/slide7.xml" Id="R80638544a590418c" /><Relationship Type="http://schemas.openxmlformats.org/officeDocument/2006/relationships/slide" Target="/ppt/slides/slide8.xml" Id="R2d57766b9d95409c" /><Relationship Type="http://schemas.openxmlformats.org/officeDocument/2006/relationships/slide" Target="/ppt/slides/slide9.xml" Id="R5036fe157827464d" /><Relationship Type="http://schemas.openxmlformats.org/officeDocument/2006/relationships/slide" Target="/ppt/slides/slide10.xml" Id="R0b2f4c89b79c4a27" /><Relationship Type="http://schemas.openxmlformats.org/officeDocument/2006/relationships/slide" Target="/ppt/slides/slide11.xml" Id="R5a73d4b3bb4f4949" /><Relationship Type="http://schemas.openxmlformats.org/officeDocument/2006/relationships/slide" Target="/ppt/slides/slide12.xml" Id="R472418ad34d24a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885d6011b64e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4333b87ec94e52" /><Relationship Type="http://schemas.openxmlformats.org/officeDocument/2006/relationships/notesMaster" Target="/ppt/notesMasters/notesMaster1.xml" Id="Rf8f4bedc69ec49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a1864d58244d8b" /><Relationship Type="http://schemas.openxmlformats.org/officeDocument/2006/relationships/notesMaster" Target="/ppt/notesMasters/notesMaster1.xml" Id="Rece1a40ad8e34b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508f393c2049da" /><Relationship Type="http://schemas.openxmlformats.org/officeDocument/2006/relationships/notesMaster" Target="/ppt/notesMasters/notesMaster1.xml" Id="Re7f21ffaf15b45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74ff96d4cb469e" /><Relationship Type="http://schemas.openxmlformats.org/officeDocument/2006/relationships/notesMaster" Target="/ppt/notesMasters/notesMaster1.xml" Id="R773aa184477944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8490d0a7564fe0" /><Relationship Type="http://schemas.openxmlformats.org/officeDocument/2006/relationships/notesMaster" Target="/ppt/notesMasters/notesMaster1.xml" Id="Re12f2120584241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9dd20ce96b4eaa" /><Relationship Type="http://schemas.openxmlformats.org/officeDocument/2006/relationships/notesMaster" Target="/ppt/notesMasters/notesMaster1.xml" Id="R10bf5590a03946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1c15da21ef4927" /><Relationship Type="http://schemas.openxmlformats.org/officeDocument/2006/relationships/notesMaster" Target="/ppt/notesMasters/notesMaster1.xml" Id="R8b72e9e924ba4b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5e3b683ee94a71" /><Relationship Type="http://schemas.openxmlformats.org/officeDocument/2006/relationships/notesMaster" Target="/ppt/notesMasters/notesMaster1.xml" Id="R6cc2ebb8e84d4a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a3e9c77c8c44f9" /><Relationship Type="http://schemas.openxmlformats.org/officeDocument/2006/relationships/notesMaster" Target="/ppt/notesMasters/notesMaster1.xml" Id="Rb19b247f7d9f47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267e3c48fc46ca" /><Relationship Type="http://schemas.openxmlformats.org/officeDocument/2006/relationships/notesMaster" Target="/ppt/notesMasters/notesMaster1.xml" Id="R383fb5c7b40c4a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c4482b69334de6" /><Relationship Type="http://schemas.openxmlformats.org/officeDocument/2006/relationships/notesMaster" Target="/ppt/notesMasters/notesMaster1.xml" Id="Ra2746ef68b3e45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46f22f3e024db5" /><Relationship Type="http://schemas.openxmlformats.org/officeDocument/2006/relationships/notesMaster" Target="/ppt/notesMasters/notesMaster1.xml" Id="Rf5a48536630f41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98dc16cc0a4d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8b710259b24eaa" /><Relationship Type="http://schemas.openxmlformats.org/officeDocument/2006/relationships/slideLayout" Target="/ppt/slideLayouts/slideLayout1.xml" Id="Rf965b9b2a02e4d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65b9b2a02e4d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4a0bd03c142ee" /><Relationship Type="http://schemas.openxmlformats.org/officeDocument/2006/relationships/notesSlide" Target="/ppt/notesSlides/notesSlide1.xml" Id="Reca08b132f554e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a8a7555904c44" /><Relationship Type="http://schemas.openxmlformats.org/officeDocument/2006/relationships/notesSlide" Target="/ppt/notesSlides/notesSlide2.xml" Id="Rdb223ce1322747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1f4e3edc646c8" /><Relationship Type="http://schemas.openxmlformats.org/officeDocument/2006/relationships/notesSlide" Target="/ppt/notesSlides/notesSlide3.xml" Id="R9b7ebaa6e7a143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584960cc54c81" /><Relationship Type="http://schemas.openxmlformats.org/officeDocument/2006/relationships/notesSlide" Target="/ppt/notesSlides/notesSlide4.xml" Id="Rc2fb86678cd34c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0240801f84f08" /><Relationship Type="http://schemas.openxmlformats.org/officeDocument/2006/relationships/notesSlide" Target="/ppt/notesSlides/notesSlide5.xml" Id="Rdb7e6717e2c844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2fbf9eba14a24" /><Relationship Type="http://schemas.openxmlformats.org/officeDocument/2006/relationships/notesSlide" Target="/ppt/notesSlides/notesSlide6.xml" Id="R57d4862bcde245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681128fed4a5e" /><Relationship Type="http://schemas.openxmlformats.org/officeDocument/2006/relationships/notesSlide" Target="/ppt/notesSlides/notesSlide7.xml" Id="Raf72fa668c8049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3c833f5b542a2" /><Relationship Type="http://schemas.openxmlformats.org/officeDocument/2006/relationships/notesSlide" Target="/ppt/notesSlides/notesSlide8.xml" Id="R1f41834726e44d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10fac65b24225" /><Relationship Type="http://schemas.openxmlformats.org/officeDocument/2006/relationships/notesSlide" Target="/ppt/notesSlides/notesSlide9.xml" Id="Rc7bde20e683146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7daf34235451b" /><Relationship Type="http://schemas.openxmlformats.org/officeDocument/2006/relationships/notesSlide" Target="/ppt/notesSlides/notesSlide10.xml" Id="R0e145bb6cf2a45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886fe107d4fc6" /><Relationship Type="http://schemas.openxmlformats.org/officeDocument/2006/relationships/notesSlide" Target="/ppt/notesSlides/notesSlide11.xml" Id="R7ba28a472ccd4c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aa98fb8fd4785" /><Relationship Type="http://schemas.openxmlformats.org/officeDocument/2006/relationships/notesSlide" Target="/ppt/notesSlides/notesSlide12.xml" Id="R8351de8e1fc34de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4C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25245A-08E3-4640-8999-EEDE96D7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Shopify Technical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143CD-9E7B-4F3D-B606-ABA7B559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Shopify Collective</a:t>
            </a:r>
          </a:p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ABCDA-1DC8-4416-9BC0-F4C48D4A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Retailer and supplier workflows for product sync, orders, payments, and returns.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9A39C-5B55-46FA-AAF2-4CBC6B3E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962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FDF4A"/>
                </a:solidFill>
              </a:defRPr>
            </a:pPr>
            <a:r>
              <a:rPr sz="1050" b="1">
                <a:solidFill>
                  <a:srgbClr val="2FDF4A"/>
                </a:solidFill>
              </a:rPr>
              <a:t>PPTX visualization</a:t>
            </a:r>
          </a:p>
        </p:txBody>
      </p:sp>
    </p:spTree>
    <p:extLst>
      <p:ext uri="{BB962C8B-B14F-4D97-AF65-F5344CB8AC3E}">
        <p14:creationId xmlns:p14="http://schemas.microsoft.com/office/powerpoint/2010/main" val="5722906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183F6D-3A17-4B81-AB1B-2AF38F95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01 | System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37C38-04D8-45C5-977C-842C8A3E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Collective coordinates a merchant-facing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EDC0A-D98D-4101-9687-5AFEBD50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architecture is best understood as a relationship between supplier source products, retailer storefronts, and Collective orchestration.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48220-D54C-4324-87E1-E2494B3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96BFC-F118-4253-9ECE-21DABD7C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Supplier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31B96-DEB1-4BEB-B336-0B6F99A2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Owns products, shares price lists, sets cost price and supplier shipping, and fulfills directly to the customer.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C1265-ABF1-4F2A-B226-8DFB2B6D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4C3F"/>
                </a:solidFill>
              </a:defRPr>
            </a:pPr>
            <a:r>
              <a:rPr sz="1875" b="1">
                <a:solidFill>
                  <a:srgbClr val="004C3F"/>
                </a:solidFill>
              </a:rPr>
              <a:t>Shopify Collective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96253-6716-42CF-BD21-FE205AB8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Imports products, keeps supplier-backed inventory and cost price aligned, routes orders, and coordinates payment records.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D8BF9-41E0-4764-A621-8C2FE61E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Retailer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96DFFB-19DE-4414-84F2-EBAEDCDD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Imports products, sells to the buyer, controls the customer relationship, and manages buyer-facing pricing or shipping where allowed.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F804F-E543-43E0-BB2D-3EC8C2BB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D9A1F-3553-4D00-A056-A3461747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39913-EC94-4A9D-9E51-6E93907B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386724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D8B57C-53A1-42EC-8FD4-47B076A1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02 | Product sharing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654A7-4CA9-4406-B274-DA9259A1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Product sharing starts with supplier price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E7C17-D858-42D4-8041-C90F7F4A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Supplier products must exist in Shopify, be active, be published to the Collective Supplier channel, and be added to a price list.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A2C9F7-AAB5-4E4E-B36A-B807914F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01B0F-FE40-4439-B826-046E0533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Create or sync products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A69AD-DC6E-41B6-9F03-37C505E4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ERP/PIM can be upstream, but Shopify holds the shared product.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F0441-D71B-4EA9-A775-1143FDFD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37360-37C3-4646-827F-03B16B36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Publish active 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858A6A-9042-4E57-9D2E-B5F39826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Products are published to the Collective Supplier channel.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54059F-9D8B-4C30-9288-EBD3F5CF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C218B-5F18-498C-9B47-4554CC7C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Create price list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02D52-F8D4-4093-BFA1-0859B191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sets products, margin, cost price terms, and shipping.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2EB810-3963-4DBB-BF50-76561019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4D884A-DDCE-41DC-AEE8-AD308577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Retailer imports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B8335-B184-4062-B59D-6C4B9B47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 creates retailer products with Collective tags.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33351C-832E-4566-AAEB-AF4699D0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Price lists are managed in the app/admin, not through the public API.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B18352-E810-4240-B62C-C020BAC6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Open and closed access determine who can import.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39DC53-8ED5-4D24-A130-B7DB128B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Imported product content can be optionally kept in sync.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778FFC-E13C-4FAC-A708-92A3F0EB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15D2F-E433-475A-B85A-1E4DAE22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7E51B4-087E-4233-9819-9FF3FC3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218404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662A92-ADC6-4AD0-8A8E-A00CF7FE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03 | Inventory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F0565-F9F0-4962-9392-1112557C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Imported products use supplier-backed inventory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77F81-1E5F-4323-9231-1ED9069B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Inventory availability comes from the supplier and is checked again during Shopify checkout.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EA092-816C-4676-8E63-A298F988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F49E9-B967-444C-B88C-C618D964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Supplier availability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92E32-B677-43BC-AFED-C42BCF3F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inventory available for online sales populates retailer availability.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D6029-CD09-4DEC-997A-8D3F085C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A8476E-CC70-4A8F-B791-C4384164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Shared decrease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D790F-A306-4956-B500-E686B23D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Purchases on supplier or connected retailer stores reduce quantity.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77D35E-340D-45B4-BB96-E7212528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C72B4-7568-4E4E-B3E9-F2FD2DB2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Propagation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A5E96B-56D2-4F3B-902E-3DBEA8F2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Changes sync across connected stores.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1321B-EC3C-4D24-813C-B5DE2980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F3BA1D-D54B-41CD-9DE7-CEBEBFB7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Checkout guard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F74D9-3E1F-4851-8DD4-59784664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Shopify checkout checks supplier inventory.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DC0D6-DDD1-430B-9095-05158251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97032-11C7-4B7F-97F4-094E09A6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Manual exception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E51EFE-BB1C-468C-A7B2-A966A2D8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Manual order insertion is not protected by that checkout guard.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3DFF2C-1FB9-4E19-8DE1-6F20270C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Temporary divergence can happen during propagation.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E2298-3D69-46B6-B69B-6250D10B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Merchant guidance: average sync under 30 seconds, up to 5 minutes.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D1E73D-561C-4817-A521-F9D8DA79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Changing Collective inventory setup can break expected sync.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92E44D-C5F8-4B79-9CA1-A0B32F75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80C5B0-6DD6-4B42-8B9E-FE577E4A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E8C758-ACC6-4AA9-A9CE-80099F93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13264956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C9B238-37AE-406F-9040-C4FFEABC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04 | Pricing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32D92-BBE3-48C4-B208-A7358D1D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Cost price and retail price are separate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57F88-730A-442C-8BD6-D781211A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supplier cost price drives what the retailer owes. Retailer-facing price and discounts drive buyer charge and retailer profit.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909E85-5514-4320-8355-9B148D95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85EE7-E5E2-4AE9-AC1B-95DCB712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 cost price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44332-713C-418E-B7BA-4426D184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Always synced from supplier price list and not editable by the retailer.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1CC71-45E4-4275-B70C-59B03C2E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 retail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F9CEB-C37B-4861-8148-014BB618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Buyer-facing price can be retailer-managed unless retail price sync is enabled.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4CC3B3-4489-4BC7-A021-D4156A8C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29E3D1-772E-4926-9BA8-1FC04EB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 discounts reduce retailer profit, but do not change supplier cost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CB0AC-0F04-477B-9427-B8A0977F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0F0BB-F051-47B0-96B3-3E43B4B1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DDE3A2-46AB-4A96-A338-18DAF2B5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7952828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441305-E99B-49C2-B933-CBBB6A9F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05 | Shipping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397BC-9732-49F8-BFE7-DAFCE0E4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Shipping has two economic rates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230B0-CC8B-4B00-B6C0-E9FC5C30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Retailer-buyer shipping and supplier-retailer shipping must be modeled separately.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53EDA-229C-4C5A-A64E-77747517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F546-A29C-4742-A05D-844ACCFF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 charges retailer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7F61C-D763-43C1-A3F4-BF8D139B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Supplier shipping rates define what the retailer pays the supplier for fulfillment.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D2517-1D95-405B-A5C6-E4A8E8BB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 charges buyer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DDF4A-CB56-4CAE-9CB1-E07FC662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Default Collective profile can mirror supplier rates; custom profiles can charge a different buyer rate.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13457-983F-43C8-A796-A4F2A8EF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52CE20-5333-4791-957A-12749523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Shipping margin or subsidy belongs in retailer economics, not supplier cost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925927-DC5C-4D36-B2A5-CED0C301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5D4690-D8EC-4EE0-8EAC-3806E97A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AD10DA-CB1A-4B4D-9341-CA978202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1398457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3365E4-CA14-4A99-A342-51ED7BD4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06 | Orders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EFBB7A-FA3E-4325-A12B-DE9DA3CC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Supplier orders appear after payment and fraud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AA24E-3C42-41E8-8178-8997A754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retailer order is created first. Collective then links fulfillment to the supplier order after payment checks pass.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CF18A-6487-4A54-A981-33246B21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FE595-4B1A-4290-921B-275733A4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9D602-92C2-4E7F-8AE3-A89B199C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Buyer checks out on retailer 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D1023-6589-439F-8005-1CB2DB61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The retailer order is created with the Shopify Collective tag.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7B63C3-54EF-4659-AA2C-27A958D3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42521-ED9E-4C9D-922C-08637E3F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379771-F7B9-42BC-A600-C5D9FB99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Collective waits about 2 minutes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285C9-404F-40A1-B864-AABA1926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Payment and fraud checks complete, and the order must not be on hold.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2E043-7BAF-4AB8-B59F-CEE5D3C5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13F09-B8D4-4712-8A84-06C435D6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984C1-0CA4-4238-BE5D-75CB9140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order is created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B4739-C3C4-4D80-84A6-C580D9FB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Collective sends the fulfillment request and links retailer fulfillment to supplier order.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A63CFA-442E-4B3C-9421-5A1EEF4A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3E946-F7A6-4C2C-9F35-C24BDB2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1A23D1-0475-4BC4-B6EA-A8A564F2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fulfills to customer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EBA8FE-FB4F-4EE2-8809-22B28114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 fulfills directly to the end customer, not to the retailer.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0A5695-7D19-4222-921B-4F314A67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3DD677-52B9-41EF-86F7-8373A64C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B189AC-9B5D-42D8-89A5-B1E435A5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Fulfillment syncs 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F6F298-27FD-4E00-A122-F721CD15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530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Retailer order receives fulfillment and tracking updates.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F85DED-0A7C-4E10-A8E5-8706A190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25A475-BA62-43EB-950A-D98FED8D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7C7993-C803-4067-BBB0-A92C25B8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11370878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F52F33-04EA-4EA1-8A1C-FC03F662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07 | Automatic payments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29DF40-EA56-4AE4-A331-63033384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Automatic payments follow fulfillment and adjustments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54B820-D627-428F-9AAA-DA7344A0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When enabled, Collective debits retailer Shopify Payments and credits supplier Shopify Payments, but reconciliation should use payment adjustments.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9B81D-1F22-43C6-8E0A-A42BD840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C4BB1-B4A1-46EE-AEB9-43996C04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BDF77-9EBC-424F-BED9-96B5992B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Retailer order is paid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1B8B2-41E4-4EA9-885B-150E3A01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Marking paid can trigger a debit for supplier funds.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9CD11-2BCA-4511-A479-BC6FDC51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CF9446-6BCF-4E06-823F-05153B23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40E17-32FF-42C6-AD81-72388CC0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fulfills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283AB-F886-4CF1-8011-ED6183AC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 payment is credited after supplier-side fulfillment.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97759-F340-45B8-8343-C38E7840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E31A6-F621-45BB-8BD2-01C41E05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880FA-B972-4A41-AAF7-D68661FB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Adjustments record the movement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62897-79C3-41A9-A0F6-798A5FB9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Shopify Payments balance adjustments can be checked for the associated order.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13CDC-BE40-4FA1-957A-B681252A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E9FA26-02DE-4C23-B6F6-8B308D33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190966-FCF2-4853-B557-7B6CA609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Payout is not always one-to-one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9D620D-E1B3-4747-900F-C5ECE5D1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Payouts can aggregate payments and reflect refunds, returns, reversals, taxes, and timing.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A063F-D784-4F60-85CC-F8BF0D47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9B5B54-3288-47B3-AC83-803B4E84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5BA64B-F657-40AA-A871-E49CB2D2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18537395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AB03CD-A280-480A-8700-F04BAABB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08 | State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92145-51B1-49B9-BD75-EF9A79F5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Cancellations and returns branch by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D2715-CF47-41E1-9C38-4931820E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next action depends on whether the order is paid, fulfilled, and which return handling option is selected.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257705-E7C7-459D-AE85-1DD5A223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5DA66-0976-4431-963A-261C3AD8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BD754-CBAC-4B1D-BA0C-FDC2287C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Retailer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9498B-9E13-4711-9DE1-D6DCD65A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Supplier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A4D4F-8112-455F-BBD9-C449BC85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Financial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6BE4DB-8023-48F1-9EA8-56C93AD9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Cancel unpaid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36572-0900-4322-836C-542CD3FD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Submit cancellation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9A09D-50B6-460E-8E90-59398ACA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Collective cancels automatically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413AEB-6DBB-4F30-88E0-89151584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Confirm order and refund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7EF48E-70BE-4BA8-843D-E58D4114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Cancel paid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B3DA3E-D943-4E9E-A43F-103E2A70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Request supplier cancellation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6F60B0-B96E-418A-A950-8DCC256A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Supplier accepts or rejects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0E840-938E-43CF-9D76-15463C79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Check reversals and adjustments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38FA1-F1CB-4F35-8202-635049CC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Supplier cancels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C94E40-830A-44B5-965E-FA708BFA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Retailer order updates automatically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376178-8D45-4C91-BA83-E5EBBF0B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Cancel before fulfillment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D17BF-8377-441C-8665-D89C155B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Refund can happen automatically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57D73E-826C-4E60-93EB-6C631BCC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Return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6BAFFF-2AC5-4EB8-92E6-EFBBC60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Choose label/refund option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4F5DDE-CC48-4058-8C7A-DC400A22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Approve, label, receive, refund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BDB4E7-2BA3-48DE-9D44-27C763D0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Reconcile item, shipping, tax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E0991A-EC30-4471-ADE9-E3284631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DD9C77-0D3C-4A13-A731-2C492603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3C2B47-1407-42C9-B779-FC180066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6326566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BD62CE-F195-4928-97B5-F507E8E3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09 | FAQ: orders and money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BF794-E285-4A54-AD61-B860D2D9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Order and payment FAQ depends on webhooks plus reconciliation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72A76-EABB-4F44-BA8F-50A06824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External systems should use webhooks as the change feed and payment adjustments for final money movement.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D46EA3-2485-427D-9AE9-04946D3A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5EEC0-A72E-4FE8-8D6F-749A59FE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When is the supplier order created?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DABB1-0E60-486F-8A93-5322C950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After the retailer order is paid, fraud checks pass, and the order is not on hold. ERP/OMS/WMS sync should use order creation and order update webhooks.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779CA-08A3-410F-BD54-DA6174FB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How is supplier amount determined?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8A9E63-94A9-4BE8-B848-FC7207EB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Use cost price, supplier shipping, tax, and adjustments, not the buyer checkout total. Finance systems should pair order webhooks with payment adjustment reconciliation.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857EB-A07F-4232-BBFB-C3018D37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Does payout equal supplier order amount?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DDCEC-70CB-4FD9-8922-3C58D354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Not always. Payouts can aggregate payments and reflect refunds, returns, reversals, tax, shipping, timing, and balance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190671-44B9-4374-9649-CF482F2E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discounts the order?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8268EF-E8E0-4781-AEC3-DB591C92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The customer pays less and retailer profit decreases. Supplier cost price does not change.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BF294-60FA-4DB6-AE2F-3ADEA0C9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2F8AF0-FF2C-4DBE-BFF9-853DF978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8125C-63D9-46B5-9977-CBD72207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5002597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82B02E-42D5-4C4B-96AC-04AC9147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10 | FAQ: product and inventory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0D8E8-C1AE-4979-85E0-CBD2B37B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Product FAQ separates Collective sync from external sync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4AC20A-2181-4197-AFBD-F557D618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Collective handles supplier-to-retailer sync; external systems subscribe to webhooks on the store they integrate with.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626ED-D997-4864-9AD5-E153893B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436A0-1E4F-48DD-B3D0-0C6CA09B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How is inventory synchronized?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2810A-904B-4274-80BC-1B95DCF1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inventory available for online sales populates retailer availability. Retailer-side external mirrors should use product creation, update, and deletion webhooks.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B67EE-CCBD-46DA-96DB-40D083D4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Can inventory diverge?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7F283-53DB-402F-BC9F-A5735BF8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Temporarily, yes. Sync can lag, but Shopify checkout checks supplier inventory. Manual orders are an exception.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5C836-56BE-4FAF-A805-279328BD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Must master data live on supplier side?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F722A0-8D87-473B-B024-F3203325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The product must exist in the supplier Shopify store and be published to Collective. Upstream master data can still live in ERP or PIM.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28ABC-F8E3-44EC-A23B-C0356B67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supplier changes product data?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45482F-BEB4-47D2-AA5B-891C11FD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Inventory and cost price sync. Other content can sync depending on settings; retailer-side integrations should use product webhooks to mirror changes.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86A96-1EE2-44B9-B9C1-FAC3E390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D24F1-ADEB-4DD9-A123-C2B6E998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81767A-834A-41F5-A25F-D39C5FD7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47527533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D55D33-FF72-4DBD-8726-E597127F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11 | FAQ: retailer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EF397-EBA0-4D69-8445-60379327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Retailer-side changes do not update supplier master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D8A37F-C86A-4DC5-948F-3CE4D5DD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Treat retailer store webhooks as retailer-store events, not proof that the supplier source product changed.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CB1FD3-EA0F-4780-B6AB-0A7EAB8C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E1309-0DF7-47AE-876C-8C8BB0C0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changes product data?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1B73F-73BA-4515-B387-0CE7C9C2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Retailer edits do not update supplier source data. Supplier-managed fields remain supplier-controlled.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22347-1D3C-4E1E-A7FB-51BEA90E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changes price?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1F1B09-2A71-45BB-B659-E70E97AD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Retailer can manage retail price unless retail price sync is enabled. Supplier cost price remains supplier-controlled.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70A65-BC9E-4E91-8006-4D8175AC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changes inventory?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122D3-DE21-4FE0-B222-D3893B08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Imported Collective inventory is supplier-managed and read-only in the retailer admin.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E9798-6AA5-4D28-9BC6-FB25A935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Which webhook matters?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69BBB-D482-48D6-B7CE-5B0AE097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Use product webhooks for retailer-store product changes, order webhooks for orders, and return/refund webhooks for return-related financial changes.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CA9E70-04E9-4F54-8719-C8DB0744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1707B-244F-4D47-B994-7554E7AA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F7A402-48DD-4C0E-9CA4-8B1AA4DC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4770363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2026-06-30T12:51:59.6850000Z</dcterms:created>
  <dcterms:modified xsi:type="dcterms:W3CDTF">2026-06-30T12:51:59.6850000Z</dcterms:modified>
</coreProperties>
</file>