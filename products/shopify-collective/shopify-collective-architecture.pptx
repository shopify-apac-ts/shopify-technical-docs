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665c17c6fd4503" /><Relationship Type="http://schemas.openxmlformats.org/officeDocument/2006/relationships/extended-properties" Target="/docProps/app.xml" Id="R8aa471fea693481b" /><Relationship Type="http://schemas.openxmlformats.org/officeDocument/2006/relationships/officeDocument" Target="/ppt/presentation.xml" Id="Rb7b501281b004c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e36981a4564509"/>
  </p:sldMasterIdLst>
  <p:notesMasterIdLst>
    <p:notesMasterId xmlns:r="http://schemas.openxmlformats.org/officeDocument/2006/relationships" r:id="R417c642f6d9d4ac1"/>
  </p:notesMasterIdLst>
  <p:sldIdLst>
    <p:sldId xmlns:r="http://schemas.openxmlformats.org/officeDocument/2006/relationships" id="256" r:id="R441305a9de474ebe"/>
    <p:sldId xmlns:r="http://schemas.openxmlformats.org/officeDocument/2006/relationships" id="257" r:id="Rd2e1e56374204435"/>
    <p:sldId xmlns:r="http://schemas.openxmlformats.org/officeDocument/2006/relationships" id="258" r:id="R734fdaef52e24f69"/>
    <p:sldId xmlns:r="http://schemas.openxmlformats.org/officeDocument/2006/relationships" id="259" r:id="R6116dc402843478b"/>
    <p:sldId xmlns:r="http://schemas.openxmlformats.org/officeDocument/2006/relationships" id="260" r:id="R167dca651c8948d7"/>
    <p:sldId xmlns:r="http://schemas.openxmlformats.org/officeDocument/2006/relationships" id="261" r:id="Rb0e542ebdddb457b"/>
    <p:sldId xmlns:r="http://schemas.openxmlformats.org/officeDocument/2006/relationships" id="262" r:id="Rb589bc0052e24df4"/>
    <p:sldId xmlns:r="http://schemas.openxmlformats.org/officeDocument/2006/relationships" id="263" r:id="R8132cb073acf4203"/>
    <p:sldId xmlns:r="http://schemas.openxmlformats.org/officeDocument/2006/relationships" id="264" r:id="R65751fa3102e4db9"/>
    <p:sldId xmlns:r="http://schemas.openxmlformats.org/officeDocument/2006/relationships" id="265" r:id="R591a25c5cf8b4b54"/>
    <p:sldId xmlns:r="http://schemas.openxmlformats.org/officeDocument/2006/relationships" id="266" r:id="Rbb5db834bbea404b"/>
    <p:sldId xmlns:r="http://schemas.openxmlformats.org/officeDocument/2006/relationships" id="267" r:id="R0b21256eb75942f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f3dc2d7f28410f" /><Relationship Type="http://schemas.openxmlformats.org/officeDocument/2006/relationships/slideMaster" Target="/ppt/slideMasters/slideMaster1.xml" Id="Rdde36981a4564509" /><Relationship Type="http://schemas.openxmlformats.org/officeDocument/2006/relationships/notesMaster" Target="/ppt/notesMasters/notesMaster1.xml" Id="R417c642f6d9d4ac1" /><Relationship Type="http://schemas.openxmlformats.org/officeDocument/2006/relationships/presProps" Target="/ppt/presProps.xml" Id="R5d5a09440a0b407a" /><Relationship Type="http://schemas.openxmlformats.org/officeDocument/2006/relationships/tableStyles" Target="/ppt/tableStyles.xml" Id="R3c4bc1bc54c54a66" /><Relationship Type="http://schemas.openxmlformats.org/officeDocument/2006/relationships/slide" Target="/ppt/slides/slide1.xml" Id="R441305a9de474ebe" /><Relationship Type="http://schemas.openxmlformats.org/officeDocument/2006/relationships/slide" Target="/ppt/slides/slide2.xml" Id="Rd2e1e56374204435" /><Relationship Type="http://schemas.openxmlformats.org/officeDocument/2006/relationships/slide" Target="/ppt/slides/slide3.xml" Id="R734fdaef52e24f69" /><Relationship Type="http://schemas.openxmlformats.org/officeDocument/2006/relationships/slide" Target="/ppt/slides/slide4.xml" Id="R6116dc402843478b" /><Relationship Type="http://schemas.openxmlformats.org/officeDocument/2006/relationships/slide" Target="/ppt/slides/slide5.xml" Id="R167dca651c8948d7" /><Relationship Type="http://schemas.openxmlformats.org/officeDocument/2006/relationships/slide" Target="/ppt/slides/slide6.xml" Id="Rb0e542ebdddb457b" /><Relationship Type="http://schemas.openxmlformats.org/officeDocument/2006/relationships/slide" Target="/ppt/slides/slide7.xml" Id="Rb589bc0052e24df4" /><Relationship Type="http://schemas.openxmlformats.org/officeDocument/2006/relationships/slide" Target="/ppt/slides/slide8.xml" Id="R8132cb073acf4203" /><Relationship Type="http://schemas.openxmlformats.org/officeDocument/2006/relationships/slide" Target="/ppt/slides/slide9.xml" Id="R65751fa3102e4db9" /><Relationship Type="http://schemas.openxmlformats.org/officeDocument/2006/relationships/slide" Target="/ppt/slides/slide10.xml" Id="R591a25c5cf8b4b54" /><Relationship Type="http://schemas.openxmlformats.org/officeDocument/2006/relationships/slide" Target="/ppt/slides/slide11.xml" Id="Rbb5db834bbea404b" /><Relationship Type="http://schemas.openxmlformats.org/officeDocument/2006/relationships/slide" Target="/ppt/slides/slide12.xml" Id="R0b21256eb75942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ea63e6e43a492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d072337486c4551" /><Relationship Type="http://schemas.openxmlformats.org/officeDocument/2006/relationships/notesMaster" Target="/ppt/notesMasters/notesMaster1.xml" Id="R124113a09336407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cfac66c117249c5" /><Relationship Type="http://schemas.openxmlformats.org/officeDocument/2006/relationships/notesMaster" Target="/ppt/notesMasters/notesMaster1.xml" Id="R94f6591bcc1b44d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f0ec3708a204de9" /><Relationship Type="http://schemas.openxmlformats.org/officeDocument/2006/relationships/notesMaster" Target="/ppt/notesMasters/notesMaster1.xml" Id="R857b54c98363496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2a3bb2af9844521" /><Relationship Type="http://schemas.openxmlformats.org/officeDocument/2006/relationships/notesMaster" Target="/ppt/notesMasters/notesMaster1.xml" Id="R520a35c9589543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67829b83a14a92" /><Relationship Type="http://schemas.openxmlformats.org/officeDocument/2006/relationships/notesMaster" Target="/ppt/notesMasters/notesMaster1.xml" Id="R0c7e9c9eb9804a1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841b1cd62a5494c" /><Relationship Type="http://schemas.openxmlformats.org/officeDocument/2006/relationships/notesMaster" Target="/ppt/notesMasters/notesMaster1.xml" Id="R4d87c38dcb3140c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428795048764e6c" /><Relationship Type="http://schemas.openxmlformats.org/officeDocument/2006/relationships/notesMaster" Target="/ppt/notesMasters/notesMaster1.xml" Id="R95567e17c55e4c5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c21d868282d423f" /><Relationship Type="http://schemas.openxmlformats.org/officeDocument/2006/relationships/notesMaster" Target="/ppt/notesMasters/notesMaster1.xml" Id="R3f7ab1e0297f4b4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f6c0db6ccb84ed9" /><Relationship Type="http://schemas.openxmlformats.org/officeDocument/2006/relationships/notesMaster" Target="/ppt/notesMasters/notesMaster1.xml" Id="R25c3473624b946d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e674e6bdf544125" /><Relationship Type="http://schemas.openxmlformats.org/officeDocument/2006/relationships/notesMaster" Target="/ppt/notesMasters/notesMaster1.xml" Id="R6836cd0288ed4e2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ec551e1bdb84f89" /><Relationship Type="http://schemas.openxmlformats.org/officeDocument/2006/relationships/notesMaster" Target="/ppt/notesMasters/notesMaster1.xml" Id="Rb2e2e0c6ff01458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6a4db5e4ed64a02" /><Relationship Type="http://schemas.openxmlformats.org/officeDocument/2006/relationships/notesMaster" Target="/ppt/notesMasters/notesMaster1.xml" Id="Ra7b762bf83924f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228eb9403f449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30bc4f082954a66" /><Relationship Type="http://schemas.openxmlformats.org/officeDocument/2006/relationships/slideLayout" Target="/ppt/slideLayouts/slideLayout1.xml" Id="Rb06273afd50248c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6273afd50248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197b31b5234e6e" /><Relationship Type="http://schemas.openxmlformats.org/officeDocument/2006/relationships/notesSlide" Target="/ppt/notesSlides/notesSlide1.xml" Id="R8d813dbda88b474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b3f5d1630d46ca" /><Relationship Type="http://schemas.openxmlformats.org/officeDocument/2006/relationships/notesSlide" Target="/ppt/notesSlides/notesSlide2.xml" Id="R4ae407262f8d491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a2f38dce73485e" /><Relationship Type="http://schemas.openxmlformats.org/officeDocument/2006/relationships/notesSlide" Target="/ppt/notesSlides/notesSlide3.xml" Id="Rf473785f2fd644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83d51a944e48c9" /><Relationship Type="http://schemas.openxmlformats.org/officeDocument/2006/relationships/notesSlide" Target="/ppt/notesSlides/notesSlide4.xml" Id="R295f1eaf794444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03d8c7ab514c1c" /><Relationship Type="http://schemas.openxmlformats.org/officeDocument/2006/relationships/notesSlide" Target="/ppt/notesSlides/notesSlide5.xml" Id="Rde8bd1da2fb947e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6e048d5e7c4346" /><Relationship Type="http://schemas.openxmlformats.org/officeDocument/2006/relationships/notesSlide" Target="/ppt/notesSlides/notesSlide6.xml" Id="Ra8f16e6802b84f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f3cc6685c24c19" /><Relationship Type="http://schemas.openxmlformats.org/officeDocument/2006/relationships/notesSlide" Target="/ppt/notesSlides/notesSlide7.xml" Id="R723463b8ea7f41c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d24900a73e4481" /><Relationship Type="http://schemas.openxmlformats.org/officeDocument/2006/relationships/notesSlide" Target="/ppt/notesSlides/notesSlide8.xml" Id="R6dfd1059c6e0456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b2ed803e72411f" /><Relationship Type="http://schemas.openxmlformats.org/officeDocument/2006/relationships/notesSlide" Target="/ppt/notesSlides/notesSlide9.xml" Id="R1c7a61d7f093425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d644fe8ea84af2" /><Relationship Type="http://schemas.openxmlformats.org/officeDocument/2006/relationships/notesSlide" Target="/ppt/notesSlides/notesSlide10.xml" Id="Rb2552f00156e4f3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db2c2dacf343fb" /><Relationship Type="http://schemas.openxmlformats.org/officeDocument/2006/relationships/notesSlide" Target="/ppt/notesSlides/notesSlide11.xml" Id="Ra36430aeec7c495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4ce190ec4d4d31" /><Relationship Type="http://schemas.openxmlformats.org/officeDocument/2006/relationships/notesSlide" Target="/ppt/notesSlides/notesSlide12.xml" Id="R83a354d04ec5439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4C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E0E61E-3F27-434E-9861-9B99C5E19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Shopify Technical Docs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D5AEAC-4E7B-461A-A4EF-2B06FECC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99060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200" b="1">
                <a:solidFill>
                  <a:srgbClr val="2FDF4A"/>
                </a:solidFill>
              </a:defRPr>
            </a:pPr>
            <a:r>
              <a:rPr sz="7200" b="1">
                <a:solidFill>
                  <a:srgbClr val="2FDF4A"/>
                </a:solidFill>
              </a:rPr>
              <a:t>Shopify Collective</a:t>
            </a:r>
          </a:p>
          <a:p xmlns:a="http://schemas.openxmlformats.org/drawingml/2006/main">
            <a:pPr algn="l">
              <a:defRPr sz="7200" b="1">
                <a:solidFill>
                  <a:srgbClr val="2FDF4A"/>
                </a:solidFill>
              </a:defRPr>
            </a:pPr>
            <a:r>
              <a:rPr sz="7200" b="1">
                <a:solidFill>
                  <a:srgbClr val="2FDF4A"/>
                </a:solidFill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CB6788-3203-4689-B108-36FCD60A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809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Retailer and supplier workflows for product sync, orders, payments, and returns.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E46106-E285-45AA-9C9B-9E0F3F13D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9626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FDF4A"/>
                </a:solidFill>
              </a:defRPr>
            </a:pPr>
            <a:r>
              <a:rPr sz="1050" b="1">
                <a:solidFill>
                  <a:srgbClr val="2FDF4A"/>
                </a:solidFill>
              </a:rPr>
              <a:t>PPTX visualization</a:t>
            </a:r>
          </a:p>
        </p:txBody>
      </p:sp>
    </p:spTree>
    <p:extLst>
      <p:ext uri="{BB962C8B-B14F-4D97-AF65-F5344CB8AC3E}">
        <p14:creationId xmlns:p14="http://schemas.microsoft.com/office/powerpoint/2010/main" val="2825873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422D9A-14F5-4401-9566-322D0AFE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01 | System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ECB4FC-F0C5-4E1B-AA22-47AB3CE1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Collective coordinates a merchant-facing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D05CBB-0049-4FFF-ACB9-473CBE68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The architecture is best understood as a relationship between supplier source products, retailer storefronts, and Collective orchestration.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A84A8A-5D6E-44F4-8EB9-D2253419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73963B-D7EC-4106-93E0-10659D9C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329565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Supplier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B67C93-9C64-4966-83DA-27AD29971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2838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Owns products, shares price lists, sets cost price and supplier shipping, and fulfills directly to the customer.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C4BB6D-1A3F-49EC-BA8E-C3C871934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86050"/>
            <a:ext cx="329565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A6DFC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4C3F"/>
                </a:solidFill>
              </a:defRPr>
            </a:pPr>
            <a:r>
              <a:rPr sz="1875" b="1">
                <a:solidFill>
                  <a:srgbClr val="004C3F"/>
                </a:solidFill>
              </a:rPr>
              <a:t>Shopify Collective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0807FA-16CA-4346-9D88-52745C6D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24250"/>
            <a:ext cx="2838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Imports products, keeps supplier-backed inventory and cost price aligned, routes orders, and coordinates payment records.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ED0F85-8BB1-4F18-BAD7-2D7DEACA9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86050"/>
            <a:ext cx="329565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Retailer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7C86D0-3AA6-4A4C-A960-8508B184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24250"/>
            <a:ext cx="2838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Imports products, sells to the buyer, controls the customer relationship, and manages buyer-facing pricing or shipping where allowed.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E4064D-8494-4D0D-BEC5-F88AA9A8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317601-0301-43B8-8B62-B613409FA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35A76F-9F59-4AE2-AC29-B8F59CEF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2/12</a:t>
            </a:r>
          </a:p>
        </p:txBody>
      </p:sp>
    </p:spTree>
    <p:extLst>
      <p:ext uri="{BB962C8B-B14F-4D97-AF65-F5344CB8AC3E}">
        <p14:creationId xmlns:p14="http://schemas.microsoft.com/office/powerpoint/2010/main" val="14701990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8B213A-E738-4BEE-9646-6E756C8F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02 | Product sharing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8C1255-082E-49BC-B217-18AF84B1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Product sharing starts with supplier price lists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C67732-ED8E-4B38-8596-DE9FBCE4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Supplier products must exist in Shopify, be active, be published to the Collective Supplier channel, and be added to a price list.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EAA68D-65D9-43E4-AD24-2CBBBC82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006CA6-FAD0-4626-8CFC-013770F3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Create or sync products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F03E1E-044D-471F-B94E-FA3A91D22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ERP/PIM can be upstream, but Shopify holds the shared product.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A8E98C-B34A-4FB8-8CDE-0B702ADD9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352800"/>
            <a:ext cx="30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85AAC5-E39A-4E00-9F75-83CD0E50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Publish active products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332C32-B15C-4D33-AC7E-117A5DE83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Products are published to the Collective Supplier channel.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C76BA9-73DD-4F19-8D09-B242C84C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352800"/>
            <a:ext cx="30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34D332-12FB-46E1-9E84-1550F73D2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Create price list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6C9614-3468-48FD-91FE-C7E3F96E1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Supplier sets products, margin, cost price terms, and shipping.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180EDD-64AD-499B-AE80-C468D4C4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52800"/>
            <a:ext cx="30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E5F6CD-6C70-4088-A86D-DA2B557AB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4C3F"/>
                </a:solidFill>
              </a:defRPr>
            </a:pPr>
            <a:r>
              <a:rPr sz="1425" b="1">
                <a:solidFill>
                  <a:srgbClr val="004C3F"/>
                </a:solidFill>
              </a:rPr>
              <a:t>Retailer imports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E1AF68-3FD1-4A90-ADB1-A23EE2F47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Collective creates retailer products with Collective tags.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264E8D-C905-4054-B819-AB92E3B4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Price lists are managed in the app/admin, not through the public API.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82E50C-2678-456E-B453-9383D4CD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Open and closed access determine who can import.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98040C-007E-4A54-A0CD-DD2B42F5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Imported product content can be optionally kept in sync.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C7EEEB-D314-44CB-A894-F6C086AF8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53373F-EB05-45DD-AE9F-05565958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39F316-E3BA-409D-AA8E-A3D1C6F60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3/12</a:t>
            </a:r>
          </a:p>
        </p:txBody>
      </p:sp>
    </p:spTree>
    <p:extLst>
      <p:ext uri="{BB962C8B-B14F-4D97-AF65-F5344CB8AC3E}">
        <p14:creationId xmlns:p14="http://schemas.microsoft.com/office/powerpoint/2010/main" val="8107537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AD6DC7-8D8E-4E15-9465-76281823B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03 | Inventory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7C4D52-9187-40B2-B401-92C1734C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Imported products use supplier-backed inventory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2F929E-62AA-4E72-9F7D-C0A3EFED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Inventory availability comes from the supplier and is checked again during Shopify checkout.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CED06B-B7CC-4C18-9186-92FB1947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CF402E-6993-42A4-8DB3-1B915C42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Supplier availability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6603C0-1490-47D3-83E5-BCB09BAB4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Supplier inventory available for online sales populates retailer availability.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848745-7ACC-4DC0-944E-266B2AE4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48E768-45BE-4554-8BF3-056FFE258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Shared decrease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175CE1-886B-4410-9D6E-268DAC72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Purchases on supplier or connected retailer stores reduce quantity.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77ED9A-5467-4E19-B11E-B0270B989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BCC1F0-AC4E-4EB9-A5C6-D93EF9AC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Propagation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351FD7-F85D-4170-970D-25890F68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Changes sync across connected stores.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B08562-AB17-43A2-85F4-CA357170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935B40-588E-4B27-8532-3051AF9C4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Checkout guard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F96129-AB27-45AE-BB6F-F75A189D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Shopify checkout checks supplier inventory.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BA92D0-5BD5-4F80-B24B-65033917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59443C-7505-466F-8EF3-16CACF9A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4C3F"/>
                </a:solidFill>
              </a:defRPr>
            </a:pPr>
            <a:r>
              <a:rPr sz="1425" b="1">
                <a:solidFill>
                  <a:srgbClr val="004C3F"/>
                </a:solidFill>
              </a:rPr>
              <a:t>Manual exception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5AEDE3-E8CB-46CE-9828-DBC930C3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Manual order insertion is not protected by that checkout guard.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16FC33-69B5-4F4D-9B00-CDF70FEF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Temporary divergence can happen during propagation.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3AE870-48D9-4F5C-AA44-A5085035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Merchant guidance: average sync under 30 seconds, up to 5 minutes.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C8A3A9-ABF1-4646-80CE-E6E68251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Changing Collective inventory setup can break expected sync.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75B488-BC0E-4F5E-BEA9-BF9A9A53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0D3662-F92A-47E8-B0E3-B959D25A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60CBED-9332-4CCD-BD19-8B5B7437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4/12</a:t>
            </a:r>
          </a:p>
        </p:txBody>
      </p:sp>
    </p:spTree>
    <p:extLst>
      <p:ext uri="{BB962C8B-B14F-4D97-AF65-F5344CB8AC3E}">
        <p14:creationId xmlns:p14="http://schemas.microsoft.com/office/powerpoint/2010/main" val="8577573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D734B0-08B7-4317-A888-149B980A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04 | Pricing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52791A-FC15-4539-AACB-222C108F3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Cost price and retail price are separate controls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9BBF95-033B-4756-91F9-D4B52B24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The supplier cost price drives what the retailer owes. Retailer-facing price and discounts drive buyer charge and retailer profit.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4287AB-94E8-4219-9B65-D5976952E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2D44BF-2A54-43F3-8F2F-047E928A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A6DFC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4C3F"/>
                </a:solidFill>
              </a:defRPr>
            </a:pPr>
            <a:r>
              <a:rPr sz="2025" b="1">
                <a:solidFill>
                  <a:srgbClr val="004C3F"/>
                </a:solidFill>
              </a:rPr>
              <a:t>Supplier cost price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FF873-F2ED-42B5-AA44-B5B1B6B8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Always synced from supplier price list and not editable by the retailer.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8E0396-ABEF-483F-852D-A57D05E8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01820"/>
                </a:solidFill>
              </a:defRPr>
            </a:pPr>
            <a:r>
              <a:rPr sz="2025" b="1">
                <a:solidFill>
                  <a:srgbClr val="101820"/>
                </a:solidFill>
              </a:rPr>
              <a:t>Retailer retail price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A2866F-F19D-437F-8112-1DBC10FD6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Buyer-facing price can be retailer-managed unless retail price sync is enabled.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57BC46-72EC-4A84-933F-7F8E8C66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714750"/>
            <a:ext cx="66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D97706"/>
                </a:solidFill>
              </a:defRPr>
            </a:pPr>
            <a:r>
              <a:rPr sz="4350" b="1">
                <a:solidFill>
                  <a:srgbClr val="D97706"/>
                </a:solidFill>
              </a:rPr>
              <a:t>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E1A66A-F726-4188-A3B9-1846EDBB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Retailer discounts reduce retailer profit, but do not change supplier cost price.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E6E7F3-AA86-40B9-A058-438CD9DB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8191D6-3553-4E31-A8E2-09AEB044F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671F71-8796-40F1-A3F1-52B54D76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5/12</a:t>
            </a:r>
          </a:p>
        </p:txBody>
      </p:sp>
    </p:spTree>
    <p:extLst>
      <p:ext uri="{BB962C8B-B14F-4D97-AF65-F5344CB8AC3E}">
        <p14:creationId xmlns:p14="http://schemas.microsoft.com/office/powerpoint/2010/main" val="12445556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E46ABC-2073-4DA5-B552-4FF9EB553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05 | Shipping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329793-326D-4B0E-B7FD-4A5CBC34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Shipping has two economic rates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2C0A66-89E3-427A-AEB3-588E102C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Retailer-buyer shipping and supplier-retailer shipping must be modeled separately.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F1FC99-154C-436A-B99F-F9252C60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5F41A-3DD3-4510-9291-DDC41AA7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A6DFC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4C3F"/>
                </a:solidFill>
              </a:defRPr>
            </a:pPr>
            <a:r>
              <a:rPr sz="2025" b="1">
                <a:solidFill>
                  <a:srgbClr val="004C3F"/>
                </a:solidFill>
              </a:rPr>
              <a:t>Supplier charges retailer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0D813C-8E22-4794-8402-2FC045C0F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Supplier shipping rates define what the retailer pays the supplier for fulfillment.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250AFB-6B51-429C-87A0-C48E32653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01820"/>
                </a:solidFill>
              </a:defRPr>
            </a:pPr>
            <a:r>
              <a:rPr sz="2025" b="1">
                <a:solidFill>
                  <a:srgbClr val="101820"/>
                </a:solidFill>
              </a:rPr>
              <a:t>Retailer charges buyer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0756D1-EF28-4321-91B9-D176F318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Default Collective profile can mirror supplier rates; custom profiles can charge a different buyer rate.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FA0780-B25D-4BC0-81F5-8DA35E30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714750"/>
            <a:ext cx="66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D97706"/>
                </a:solidFill>
              </a:defRPr>
            </a:pPr>
            <a:r>
              <a:rPr sz="4350" b="1">
                <a:solidFill>
                  <a:srgbClr val="D97706"/>
                </a:solidFill>
              </a:rPr>
              <a:t>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8EF889-8D6A-4D9E-B03A-979D5615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Shipping margin or subsidy belongs in retailer economics, not supplier cost price.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897C19-09B6-4732-BFCF-0F0EEADFB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FB7812-1226-4555-96FF-2D7ECC86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18DF4E-D790-4142-85C0-0FF049C5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6/12</a:t>
            </a:r>
          </a:p>
        </p:txBody>
      </p:sp>
    </p:spTree>
    <p:extLst>
      <p:ext uri="{BB962C8B-B14F-4D97-AF65-F5344CB8AC3E}">
        <p14:creationId xmlns:p14="http://schemas.microsoft.com/office/powerpoint/2010/main" val="3112662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27E36F-F38D-4210-984F-9472F7AD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06 | Orders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DED3F5-9B56-49F9-AC91-3F3399927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Supplier orders appear after payment and fraud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401741-694C-4E08-8630-A01C9543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The retailer order is created first. Collective then links fulfillment to the supplier order after payment checks pass.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277C2A-3B83-4B0C-8506-7E24C3C8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721680-CBC6-4276-9997-1FB810E0C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35B537-8232-4B21-8BC2-B64E4668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051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Buyer checks out on retailer store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6D1DBD-D2CD-489A-A588-721A84D84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The retailer order is created with the Shopify Collective tag.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B0D2F4-7B41-421E-AA92-4737EC74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7D8682-F813-42A8-884D-A6809EB4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EE1080-3BC3-43CE-AE6D-0B140DF0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956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Collective waits about 2 minutes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BD5681-6465-465B-B8C5-AD012EEE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81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Payment and fraud checks complete, and the order must not be on hold.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ECB8F5-4DEC-4EAD-9D26-0F3809F8C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147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9329AA-4B93-4CA5-8F64-021611E58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0F5FC4-EC85-4ACE-BA07-2AB6C0FBB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862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Supplier order is created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ECD3A3-2241-4F41-86B0-FFD668A76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719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Collective sends the fulfillment request and links retailer fulfillment to supplier order.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201835-121B-4777-BE7A-9A3E0B7C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053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A3C20F-19F5-4166-9A66-08BF70648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9AB2B6-7F86-4C6B-B43A-22E07CBB0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76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Supplier fulfills to customer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47464C-FDC1-4900-B029-DA52E5D59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Supplier fulfills directly to the end customer, not to the retailer.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734770-FDEA-404B-9279-CAC46C7F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958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86C5C7-D26F-4789-9727-C4166A6EC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863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3864B6-655A-4949-88D1-1D986316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673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Fulfillment syncs back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EEDE44-9EEF-40C9-8D94-7407B3EB4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530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Retailer order receives fulfillment and tracking updates.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C23C15-3186-4E6F-BF4D-05530277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CC6ACF-0615-45D5-B919-8AB5CDED0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EADEBC-084B-4F6A-816F-5785C0D0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7/12</a:t>
            </a:r>
          </a:p>
        </p:txBody>
      </p:sp>
    </p:spTree>
    <p:extLst>
      <p:ext uri="{BB962C8B-B14F-4D97-AF65-F5344CB8AC3E}">
        <p14:creationId xmlns:p14="http://schemas.microsoft.com/office/powerpoint/2010/main" val="21200290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CF8C55-6080-4C5F-A257-A4826F8CB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07 | Automatic payments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132CDD-46E2-4238-9389-5A7C2F7B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Automatic payments follow fulfillment and adjustments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C09093-327A-4D53-96B3-4022EB712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When enabled, Collective debits retailer Shopify Payments and credits supplier Shopify Payments, but reconciliation should use payment adjustments.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FD2E5B-B1D0-40B8-A474-BF44C10C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3D36B2-3D32-4F28-BEBE-32D63D05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86E7EA-4D2A-465E-A59B-10FC17397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051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Retailer order is paid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364378-5004-4896-874C-1AAD25D1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Marking paid can trigger a debit for supplier funds.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7CE453-A404-438E-A56F-594AD4273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DC3B33-0BAF-4CC3-AADB-00533278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FC9475-F2CE-4C46-A0F9-B249EB07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956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Supplier fulfills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2139DE-C58F-4D61-B891-CA8E96BBE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81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Supplier payment is credited after supplier-side fulfillment.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BA9362-8DBB-45B6-B4BD-CB9D32F1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147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AFEDDA-63C9-4FED-B407-C2791F89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D88349-298A-47A2-AF8C-7D149145D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862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Adjustments record the movement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1D8ED1-8A5A-4360-B980-0DBB3100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719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Shopify Payments balance adjustments can be checked for the associated order.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D4EBD1-B6E7-49E7-B739-61D38A39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053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7A7342-D6AC-4859-876E-A9BFD8DD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4D5EF8-0A8E-40C6-BA59-80531B77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76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Payout is not always one-to-one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263542-D94F-4417-9B63-EE4684409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Payouts can aggregate payments and reflect refunds, returns, reversals, taxes, and timing.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438CAA-A002-4FA6-B94D-A23D54C9A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F895DB-98DA-46DA-8E83-85450C96F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01CAB8-735A-456B-B24B-5F166926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8/12</a:t>
            </a:r>
          </a:p>
        </p:txBody>
      </p:sp>
    </p:spTree>
    <p:extLst>
      <p:ext uri="{BB962C8B-B14F-4D97-AF65-F5344CB8AC3E}">
        <p14:creationId xmlns:p14="http://schemas.microsoft.com/office/powerpoint/2010/main" val="46208689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2EEC0F-E1BB-492F-B022-8DE410C6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08 | State changes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A2C9BF-57B4-4CBF-8362-E9FA9187D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Cancellations and returns branch by state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E991DB-F7BA-4F8B-A2A7-A77F0B4E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The next action depends on whether the order is paid, fulfilled, and which return handling option is selected.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205768-6EC0-4AB2-AF16-FF2450BC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253590-DD0D-43F3-BE75-CD2927719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Scenario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6E7445-0731-4C26-B81C-609D03C88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Retailer 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C49653-A009-49D8-8552-B0E1733E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Supplier 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4AFBCC-F367-42D7-82B1-9C219729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Financial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A3978C-AE5E-4467-9021-48A63FF7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Cancel unpaid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6693EF-54E2-40A4-80D9-311E5EF43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Submit cancellation request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DA73F3-20C6-4FFD-A9EE-EBE549C8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Collective cancels automatically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CF5BD0-83E4-454F-84ED-7C98DEA8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Confirm order and refund 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A65529-2F91-4516-8692-271A2FBB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Cancel paid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C5AA40-D6CE-4703-A9AB-4BB99545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Request supplier cancellation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A5365D-E15E-4B89-B466-9D9A903B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Supplier accepts or rejects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7C892F-BBCD-4808-9495-D46CD441A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Check reversals and adjustments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315257-FF31-4EE9-B906-CD07584F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Supplier cancels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95003B-AA37-4A0F-8849-6E0757BC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Retailer order updates automatically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89CF20-4A85-42A9-A3DE-10C2306B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Cancel before fulfillment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1A687A-6926-4685-834A-1E045CF8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Refund can happen automatically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1832BD-5D89-420B-BED5-4A79F4738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Return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67C51-FF40-4B28-9E5A-5A39278E0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Choose label/refund option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16934C-AFBB-43EE-9269-BE48F14A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Approve, label, receive, refund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6B6FDF-6F8C-4A2B-9C18-53E6CDD0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Reconcile item, shipping, tax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8D2F94-F383-4946-B12F-FD92E5C2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A75A58-68E7-4E16-AF2E-51C31B19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9FE375-0F09-429D-8E77-9D974BB0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9/12</a:t>
            </a:r>
          </a:p>
        </p:txBody>
      </p:sp>
    </p:spTree>
    <p:extLst>
      <p:ext uri="{BB962C8B-B14F-4D97-AF65-F5344CB8AC3E}">
        <p14:creationId xmlns:p14="http://schemas.microsoft.com/office/powerpoint/2010/main" val="1695738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5D18FB-E5DB-480A-BA36-00F9DE0E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09 | FAQ: orders and money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6D1F1C-BDCB-4AAE-A120-878032A9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Order and payment FAQ depends on webhooks plus reconciliation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282460-C4D5-41F8-B972-EB06FA5E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External systems should use webhooks as the change feed and payment adjustments for final money movement.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2DCB29-0862-48A0-9D6C-413215C56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F8904D-EEE1-49C4-A6BC-4DD7D636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When is the supplier order created?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2E496D-663D-4C63-B2EC-2A0676A5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After the retailer order is paid, fraud checks pass, and the order is not on hold. ERP/OMS/WMS sync should use order creation and order update webhooks.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28BDB8-CF66-49B7-B6BE-C9568EAD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How is supplier amount determined?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C616CF-195E-4097-A55B-2F0C8A28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Use cost price, supplier shipping, tax, and adjustments, not the buyer checkout total. Finance systems should pair order webhooks with payment adjustment reconciliation.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855AF5-5908-4744-893A-4CEF2BD8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Does payout equal supplier order amount?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A27365-8851-4A8F-902E-B9B6A817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Not always. Payouts can aggregate payments and reflect refunds, returns, reversals, tax, shipping, timing, and balance behavior.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B8B129-DF26-46E4-BB59-C93D8963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What if retailer discounts or underprices?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5BA83E-2261-4F46-9E12-84D76C285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Buyer pays less; retailer margin can fall or go negative. Supplier cost price and supplier order amount do not change.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855AF5-5908-4744-893A-4CEF2BD8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What changes if payment is not handled through Shopify Payments?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A27365-8851-4A8F-902E-B9B6A817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Order data is the same: retailer order first, then supplier order and fulfillment after payment and fraud checks. Automatic Payments adds Shopify Payments debit and credit adjustments; without it, supplier payment remains manual or pending outside those adjustments.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DAAF59-3A60-4896-9BC4-D910E5ED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330800-377D-4B24-BC76-529694F9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8CCC47-50E3-4473-9879-900F7C740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10/12</a:t>
            </a:r>
          </a:p>
        </p:txBody>
      </p:sp>
    </p:spTree>
    <p:extLst>
      <p:ext uri="{BB962C8B-B14F-4D97-AF65-F5344CB8AC3E}">
        <p14:creationId xmlns:p14="http://schemas.microsoft.com/office/powerpoint/2010/main" val="3511552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E7DA74-5712-49BC-B012-FD86AB1A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10 | FAQ: product and inventory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E401D5-497D-4CA6-8C80-4A5A1CF1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Product FAQ separates Collective sync from external sync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B8DAF4-C89A-415E-92A0-0E8F8FF0A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Collective handles supplier-to-retailer sync; external systems subscribe to webhooks on the store they integrate with.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249FDD-8BAA-48C7-A07A-3E796A429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D496A9-6B6A-4B2E-8603-042B70B2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How is inventory synchronized?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248514-9EA7-49AD-9EEA-9C8AE1C62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Supplier inventory available for online sales populates retailer availability. Retailer-side external mirrors should use product creation, update, and deletion webhooks.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2B958A-26AA-4A00-98F9-DFAC0DBF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Can inventory diverge?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A3CE76-270E-45E2-9291-8EEBFED46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Temporarily, yes. Sync can lag, but Shopify checkout checks supplier inventory. Manual orders are an exception.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B93F5E-DBE5-4956-89DF-9120D89A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Must master data live on supplier side?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4B475A-7670-424B-BAD4-D9C570E4F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The product must exist in the supplier Shopify store and be published to Collective. Upstream master data can still live in ERP or PIM.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44854B-7618-4017-8CB7-7A72C7B33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What if supplier changes data, price, or inventory?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C93E31-448E-452B-8F0A-3785B51E2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Synced fields update retailer data. Future orders use updated supplier cost, shipping, and inventory; paid orders keep order-time amounts unless adjusted.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57CC-0761-4C5E-A7BE-E8A0D9110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E2B6EF-8360-41D5-93A6-9A93D52CB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353B4F-D8C5-4B9A-B708-5718523E1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11/12</a:t>
            </a:r>
          </a:p>
        </p:txBody>
      </p:sp>
    </p:spTree>
    <p:extLst>
      <p:ext uri="{BB962C8B-B14F-4D97-AF65-F5344CB8AC3E}">
        <p14:creationId xmlns:p14="http://schemas.microsoft.com/office/powerpoint/2010/main" val="16923996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A72106-12CF-49F1-BBEA-531C83FB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11 | FAQ: retailer changes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03CF4E-A395-425D-942A-196B7895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Retailer-side changes do not update supplier data or cost price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1E3CE6-A215-4A7A-9465-BB664E86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Treat retailer store webhooks as retailer-store events, not proof that supplier source data or supplier economics changed.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ABD251-AEB7-4863-AB84-A9E827AC9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20FE41-B7BF-428F-8B2C-B2A5B89F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What if retailer changes data, price, or inventory?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C66005-1A54-49C4-91BF-BDC79B14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Supplier source data and cost price do not change. Supplier order amounts still use supplier cost, shipping, taxes, and adjustments.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0CE3D4-0697-4246-A017-99C3C359E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Can retailer edits be overwritten?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34F290-F20D-4B4A-83CD-1C39134E6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Supplier-managed or synced fields can be overwritten by supplier updates. Imported inventory remains supplier-managed.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AED986-1633-41E0-932A-F4530E49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What if retailer changes buyer price?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3D37A5-671B-4D6C-8406-9F2A3C6F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Buyer charge and retailer margin change, but supplier cost price and supplier order amount remain supplier-controlled.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C53B1C-ABC5-45E9-B6C2-D1FD4B8F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Which webhook matters?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AA9426-F7EB-43AF-A93B-12A052A2C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Use product webhooks for retailer-store product changes, order webhooks for orders, and return/refund webhooks for return-related financial changes.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38D164-40A5-4950-9D51-EA7940C3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E8429D-3E75-48F2-A181-4F7CB5A3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8F8D2B-E5C2-499F-B133-17018B46F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12/12</a:t>
            </a:r>
          </a:p>
        </p:txBody>
      </p:sp>
    </p:spTree>
    <p:extLst>
      <p:ext uri="{BB962C8B-B14F-4D97-AF65-F5344CB8AC3E}">
        <p14:creationId xmlns:p14="http://schemas.microsoft.com/office/powerpoint/2010/main" val="12642079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2026-06-30T13:26:43.7200000Z</dcterms:created>
  <dcterms:modified xsi:type="dcterms:W3CDTF">2026-06-30T13:26:43.7200000Z</dcterms:modified>
</coreProperties>
</file>